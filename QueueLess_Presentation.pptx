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3" d="100"/>
          <a:sy n="103" d="100"/>
        </p:scale>
        <p:origin x="114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8836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פתיחה: מציגים את השם, את העסק בדמו ואת חלוקת התפקידים בצוות. מזכירים שהמערכת חיה ונגישה בלינק.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מציגים את הכאב האמיתי של העסק הקטן, ואז את הפתרון. הדגש: מעבר מבלגן מבוזר למערכת אחת.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עוברים מסלול לקוח ואז מסלול בעל עסק. מדגישים שה-Scope צומצם במודע כדי להציג מוצר יציב.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מסבירים שהתהליך היה מתועד ומבוקר: PRD לפני קוד, שלבים קטנים, ובדיקה אחרי כל שלב. כל החלטה נבחרה במודע.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פותחים DevTools ומראים את המפתחות בפועל. מסבירים למה localStorage מספיק לדמו ומה היה משתנה בפרודקשן.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206240" cy="4206240"/>
          </a:xfrm>
          <a:prstGeom prst="ellipse">
            <a:avLst/>
          </a:prstGeom>
          <a:solidFill>
            <a:srgbClr val="C9A96A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85800"/>
            <a:ext cx="3977640" cy="5486400"/>
          </a:xfrm>
          <a:prstGeom prst="roundRect">
            <a:avLst>
              <a:gd name="adj" fmla="val 3218"/>
            </a:avLst>
          </a:prstGeom>
          <a:solidFill>
            <a:srgbClr val="252C36"/>
          </a:solidFill>
          <a:ln w="12700">
            <a:solidFill>
              <a:srgbClr val="C9A96A"/>
            </a:solidFill>
            <a:prstDash val="dash"/>
          </a:ln>
        </p:spPr>
      </p:sp>
      <p:pic>
        <p:nvPicPr>
          <p:cNvPr id="4" name="Image 0" descr="/home/claude/deck/icons/image_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1136" y="2880360"/>
            <a:ext cx="603504" cy="603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36118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כאן להכניס תמונת מספרה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0844784" y="749808"/>
            <a:ext cx="795528" cy="795528"/>
          </a:xfrm>
          <a:prstGeom prst="ellipse">
            <a:avLst/>
          </a:prstGeom>
          <a:solidFill>
            <a:srgbClr val="C9A96A"/>
          </a:solidFill>
          <a:ln/>
        </p:spPr>
      </p:sp>
      <p:pic>
        <p:nvPicPr>
          <p:cNvPr id="7" name="Image 1" descr="/home/claude/deck/icons/cream_sciss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9577" y="964601"/>
            <a:ext cx="365943" cy="36594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937760" y="7132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400" b="1" kern="0" spc="1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QueueLess</a:t>
            </a:r>
            <a:endParaRPr lang="en-US" sz="5400" dirty="0"/>
          </a:p>
        </p:txBody>
      </p:sp>
      <p:sp>
        <p:nvSpPr>
          <p:cNvPr id="9" name="Text 5"/>
          <p:cNvSpPr/>
          <p:nvPr/>
        </p:nvSpPr>
        <p:spPr>
          <a:xfrm>
            <a:off x="4709160" y="16916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לקביעת וניהול תורים עבור מספרת רמת גן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4709160" y="221284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מסחר עסקים דיגיטליים יישומיים  |</a:t>
            </a:r>
            <a:r>
              <a:rPr lang="he-IL" sz="135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פרויקט </a:t>
            </a:r>
            <a:r>
              <a:rPr lang="en-US" sz="135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690872" y="2852928"/>
            <a:ext cx="6949440" cy="621792"/>
          </a:xfrm>
          <a:prstGeom prst="roundRect">
            <a:avLst>
              <a:gd name="adj" fmla="val 14706"/>
            </a:avLst>
          </a:prstGeom>
          <a:solidFill>
            <a:srgbClr val="252C36"/>
          </a:solidFill>
          <a:ln/>
        </p:spPr>
      </p:sp>
      <p:sp>
        <p:nvSpPr>
          <p:cNvPr id="12" name="Text 8"/>
          <p:cNvSpPr/>
          <p:nvPr/>
        </p:nvSpPr>
        <p:spPr>
          <a:xfrm>
            <a:off x="9509760" y="288036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יצחק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903720" y="288036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Architect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4937760" y="288036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he-IL" sz="1150" dirty="0">
                <a:solidFill>
                  <a:srgbClr val="9BA3AE"/>
                </a:solidFill>
                <a:latin typeface="Arial" pitchFamily="34" charset="0"/>
                <a:cs typeface="Arial" pitchFamily="34" charset="-120"/>
              </a:rPr>
              <a:t>ת.ז - 111111111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709160" y="3611880"/>
            <a:ext cx="6949440" cy="621792"/>
          </a:xfrm>
          <a:prstGeom prst="roundRect">
            <a:avLst>
              <a:gd name="adj" fmla="val 14706"/>
            </a:avLst>
          </a:prstGeom>
          <a:solidFill>
            <a:srgbClr val="252C36"/>
          </a:solidFill>
          <a:ln/>
        </p:spPr>
      </p:sp>
      <p:sp>
        <p:nvSpPr>
          <p:cNvPr id="16" name="Text 12"/>
          <p:cNvSpPr/>
          <p:nvPr/>
        </p:nvSpPr>
        <p:spPr>
          <a:xfrm>
            <a:off x="9509760" y="363931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אביטל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903720" y="36393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 Designer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4937760" y="363931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he-IL" sz="1150" dirty="0">
                <a:solidFill>
                  <a:srgbClr val="9BA3AE"/>
                </a:solidFill>
                <a:latin typeface="Arial" pitchFamily="34" charset="0"/>
                <a:cs typeface="Arial" pitchFamily="34" charset="-120"/>
              </a:rPr>
              <a:t>ת.ז - 222222222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4709160" y="4370832"/>
            <a:ext cx="6949440" cy="621792"/>
          </a:xfrm>
          <a:prstGeom prst="roundRect">
            <a:avLst>
              <a:gd name="adj" fmla="val 14706"/>
            </a:avLst>
          </a:prstGeom>
          <a:solidFill>
            <a:srgbClr val="252C36"/>
          </a:solidFill>
          <a:ln/>
        </p:spPr>
      </p:sp>
      <p:sp>
        <p:nvSpPr>
          <p:cNvPr id="20" name="Text 16"/>
          <p:cNvSpPr/>
          <p:nvPr/>
        </p:nvSpPr>
        <p:spPr>
          <a:xfrm>
            <a:off x="9509760" y="4398264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רועי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903720" y="439826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Builder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4937760" y="4398264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he-IL" sz="1150" dirty="0">
                <a:solidFill>
                  <a:srgbClr val="9BA3AE"/>
                </a:solidFill>
                <a:latin typeface="Arial" pitchFamily="34" charset="0"/>
                <a:cs typeface="Arial" pitchFamily="34" charset="-120"/>
              </a:rPr>
              <a:t>ת.ז - 333333333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4709160" y="5129784"/>
            <a:ext cx="6949440" cy="621792"/>
          </a:xfrm>
          <a:prstGeom prst="roundRect">
            <a:avLst>
              <a:gd name="adj" fmla="val 14706"/>
            </a:avLst>
          </a:prstGeom>
          <a:solidFill>
            <a:srgbClr val="252C36"/>
          </a:solidFill>
          <a:ln/>
        </p:spPr>
      </p:sp>
      <p:sp>
        <p:nvSpPr>
          <p:cNvPr id="24" name="Text 20"/>
          <p:cNvSpPr/>
          <p:nvPr/>
        </p:nvSpPr>
        <p:spPr>
          <a:xfrm>
            <a:off x="9509760" y="5157216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עומרי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903720" y="515721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Engineer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4937760" y="5157216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he-IL" sz="1150" dirty="0">
                <a:solidFill>
                  <a:srgbClr val="9BA3AE"/>
                </a:solidFill>
                <a:latin typeface="Arial" pitchFamily="34" charset="0"/>
                <a:cs typeface="Arial" pitchFamily="34" charset="-120"/>
              </a:rPr>
              <a:t>ת.ז - 444444444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4709160" y="5989320"/>
            <a:ext cx="6949440" cy="457200"/>
          </a:xfrm>
          <a:prstGeom prst="roundRect">
            <a:avLst>
              <a:gd name="adj" fmla="val 16000"/>
            </a:avLst>
          </a:prstGeom>
          <a:solidFill>
            <a:srgbClr val="C9A96A">
              <a:alpha val="14000"/>
            </a:srgbClr>
          </a:solidFill>
          <a:ln/>
        </p:spPr>
      </p:sp>
      <p:sp>
        <p:nvSpPr>
          <p:cNvPr id="28" name="Text 24"/>
          <p:cNvSpPr/>
          <p:nvPr/>
        </p:nvSpPr>
        <p:spPr>
          <a:xfrm>
            <a:off x="4846320" y="6007608"/>
            <a:ext cx="6675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https://queue-less-rho.vercel.app/QueueLess_v5.html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54031" y="301752"/>
            <a:ext cx="672596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3800" b="1" dirty="0">
                <a:solidFill>
                  <a:srgbClr val="1F2933"/>
                </a:solidFill>
                <a:latin typeface="Arial" pitchFamily="34" charset="0"/>
                <a:cs typeface="Arial" pitchFamily="34" charset="-120"/>
              </a:rPr>
              <a:t>הבעיה ש- </a:t>
            </a:r>
            <a:r>
              <a:rPr lang="en-US" sz="3800" b="1" dirty="0">
                <a:solidFill>
                  <a:srgbClr val="1F2933"/>
                </a:solidFill>
                <a:latin typeface="Arial" pitchFamily="34" charset="0"/>
                <a:cs typeface="Arial" pitchFamily="34" charset="-120"/>
              </a:rPr>
              <a:t>QueueLess</a:t>
            </a:r>
            <a:r>
              <a:rPr lang="he-IL" sz="3800" b="1" dirty="0">
                <a:solidFill>
                  <a:srgbClr val="1F2933"/>
                </a:solidFill>
                <a:latin typeface="Arial" pitchFamily="34" charset="0"/>
                <a:cs typeface="Arial" pitchFamily="34" charset="-120"/>
              </a:rPr>
              <a:t> פותרת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669280" y="1051560"/>
            <a:ext cx="5971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500" dirty="0">
                <a:latin typeface="Arial" pitchFamily="34" charset="0"/>
                <a:cs typeface="Arial" pitchFamily="34" charset="-120"/>
              </a:rPr>
              <a:t>עסקים קטנים עדיין מנהלים תורים דרך טלפון, יומן ידני ו- </a:t>
            </a:r>
            <a:r>
              <a:rPr lang="en-US" sz="1500" dirty="0">
                <a:latin typeface="Arial" pitchFamily="34" charset="0"/>
                <a:cs typeface="Arial" pitchFamily="34" charset="-120"/>
              </a:rPr>
              <a:t>WhatsApp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19672" y="1783080"/>
            <a:ext cx="512064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07624" y="2093976"/>
            <a:ext cx="658368" cy="658368"/>
          </a:xfrm>
          <a:prstGeom prst="ellipse">
            <a:avLst/>
          </a:prstGeom>
          <a:solidFill>
            <a:srgbClr val="F6E2DF"/>
          </a:solidFill>
          <a:ln/>
        </p:spPr>
      </p:sp>
      <p:pic>
        <p:nvPicPr>
          <p:cNvPr id="6" name="Image 0" descr="/home/claude/deck/icons/triangle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383" y="2271735"/>
            <a:ext cx="302849" cy="30284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85432" y="213055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B448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885432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300" dirty="0">
                <a:solidFill>
                  <a:srgbClr val="6B7280"/>
                </a:solidFill>
                <a:latin typeface="Arial" pitchFamily="34" charset="0"/>
                <a:cs typeface="Arial" pitchFamily="34" charset="-120"/>
              </a:rPr>
              <a:t>שיחות טלפון | יומן ידני | </a:t>
            </a:r>
            <a:r>
              <a:rPr lang="en-US" sz="1300" dirty="0">
                <a:solidFill>
                  <a:srgbClr val="6B7280"/>
                </a:solidFill>
                <a:latin typeface="Arial" pitchFamily="34" charset="0"/>
                <a:cs typeface="Arial" pitchFamily="34" charset="-120"/>
              </a:rPr>
              <a:t>WhatsApp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1192256" y="3234690"/>
            <a:ext cx="82296" cy="82296"/>
          </a:xfrm>
          <a:prstGeom prst="ellipse">
            <a:avLst/>
          </a:prstGeom>
          <a:solidFill>
            <a:srgbClr val="B4483C"/>
          </a:solidFill>
          <a:ln/>
        </p:spPr>
      </p:sp>
      <p:sp>
        <p:nvSpPr>
          <p:cNvPr id="10" name="Text 7"/>
          <p:cNvSpPr/>
          <p:nvPr/>
        </p:nvSpPr>
        <p:spPr>
          <a:xfrm>
            <a:off x="6885432" y="315468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כפילויות בתורים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192256" y="3737610"/>
            <a:ext cx="82296" cy="82296"/>
          </a:xfrm>
          <a:prstGeom prst="ellipse">
            <a:avLst/>
          </a:prstGeom>
          <a:solidFill>
            <a:srgbClr val="B4483C"/>
          </a:solidFill>
          <a:ln/>
        </p:spPr>
      </p:sp>
      <p:sp>
        <p:nvSpPr>
          <p:cNvPr id="12" name="Text 9"/>
          <p:cNvSpPr/>
          <p:nvPr/>
        </p:nvSpPr>
        <p:spPr>
          <a:xfrm>
            <a:off x="6885432" y="365760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ביטולים שלא מתועדים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1192256" y="4240530"/>
            <a:ext cx="82296" cy="82296"/>
          </a:xfrm>
          <a:prstGeom prst="ellipse">
            <a:avLst/>
          </a:prstGeom>
          <a:solidFill>
            <a:srgbClr val="B4483C"/>
          </a:solidFill>
          <a:ln/>
        </p:spPr>
      </p:sp>
      <p:sp>
        <p:nvSpPr>
          <p:cNvPr id="14" name="Text 11"/>
          <p:cNvSpPr/>
          <p:nvPr/>
        </p:nvSpPr>
        <p:spPr>
          <a:xfrm>
            <a:off x="6885432" y="416052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עומס מתמיד על בעל העסק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11192256" y="4743450"/>
            <a:ext cx="82296" cy="82296"/>
          </a:xfrm>
          <a:prstGeom prst="ellipse">
            <a:avLst/>
          </a:prstGeom>
          <a:solidFill>
            <a:srgbClr val="B4483C"/>
          </a:solidFill>
          <a:ln/>
        </p:spPr>
      </p:sp>
      <p:sp>
        <p:nvSpPr>
          <p:cNvPr id="16" name="Text 13"/>
          <p:cNvSpPr/>
          <p:nvPr/>
        </p:nvSpPr>
        <p:spPr>
          <a:xfrm>
            <a:off x="6885432" y="466344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חוסר ודאות ללקוח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11192256" y="5246370"/>
            <a:ext cx="82296" cy="82296"/>
          </a:xfrm>
          <a:prstGeom prst="ellipse">
            <a:avLst/>
          </a:prstGeom>
          <a:solidFill>
            <a:srgbClr val="B4483C"/>
          </a:solidFill>
          <a:ln/>
        </p:spPr>
      </p:sp>
      <p:sp>
        <p:nvSpPr>
          <p:cNvPr id="18" name="Text 15"/>
          <p:cNvSpPr/>
          <p:nvPr/>
        </p:nvSpPr>
        <p:spPr>
          <a:xfrm>
            <a:off x="6885432" y="516636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תמונת יומן בזמן אמת</a:t>
            </a:r>
            <a:endParaRPr lang="en-US" sz="1500" dirty="0"/>
          </a:p>
        </p:txBody>
      </p:sp>
      <p:pic>
        <p:nvPicPr>
          <p:cNvPr id="19" name="Image 1" descr="/home/claude/deck/icons/arrowleft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3611880"/>
            <a:ext cx="548640" cy="5486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1783080"/>
            <a:ext cx="5120640" cy="4160520"/>
          </a:xfrm>
          <a:prstGeom prst="roundRect">
            <a:avLst>
              <a:gd name="adj" fmla="val 3077"/>
            </a:avLst>
          </a:prstGeom>
          <a:solidFill>
            <a:srgbClr val="1A1F26"/>
          </a:solidFill>
          <a:ln/>
        </p:spPr>
      </p:sp>
      <p:sp>
        <p:nvSpPr>
          <p:cNvPr id="21" name="Shape 17"/>
          <p:cNvSpPr/>
          <p:nvPr/>
        </p:nvSpPr>
        <p:spPr>
          <a:xfrm>
            <a:off x="4736592" y="2093976"/>
            <a:ext cx="658368" cy="658368"/>
          </a:xfrm>
          <a:prstGeom prst="ellipse">
            <a:avLst/>
          </a:prstGeom>
          <a:solidFill>
            <a:srgbClr val="C9A96A"/>
          </a:solidFill>
          <a:ln/>
        </p:spPr>
      </p:sp>
      <p:pic>
        <p:nvPicPr>
          <p:cNvPr id="22" name="Image 2" descr="/home/claude/deck/icons/cream_scisso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4351" y="2271735"/>
            <a:ext cx="302849" cy="302849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14400" y="213055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</a:t>
            </a:r>
            <a:endParaRPr lang="en-US" sz="2400" dirty="0"/>
          </a:p>
        </p:txBody>
      </p:sp>
      <p:sp>
        <p:nvSpPr>
          <p:cNvPr id="24" name="Text 19"/>
          <p:cNvSpPr/>
          <p:nvPr/>
        </p:nvSpPr>
        <p:spPr>
          <a:xfrm>
            <a:off x="91440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אחת מסודרת </a:t>
            </a:r>
            <a:r>
              <a:rPr lang="he-IL" sz="130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</a:t>
            </a:r>
            <a:r>
              <a:rPr lang="en-US" sz="130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זמינה מכל </a:t>
            </a:r>
            <a:r>
              <a:rPr lang="he-IL" sz="130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מקום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5221224" y="3234690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6" name="Text 21"/>
          <p:cNvSpPr/>
          <p:nvPr/>
        </p:nvSpPr>
        <p:spPr>
          <a:xfrm>
            <a:off x="914400" y="315468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 קובע תור בעצמו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5221224" y="3737610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8" name="Text 23"/>
          <p:cNvSpPr/>
          <p:nvPr/>
        </p:nvSpPr>
        <p:spPr>
          <a:xfrm>
            <a:off x="914400" y="365760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בעל העסק מאשר או מבטל</a:t>
            </a:r>
            <a:endParaRPr lang="en-US" sz="1500" dirty="0"/>
          </a:p>
        </p:txBody>
      </p:sp>
      <p:sp>
        <p:nvSpPr>
          <p:cNvPr id="29" name="Shape 24"/>
          <p:cNvSpPr/>
          <p:nvPr/>
        </p:nvSpPr>
        <p:spPr>
          <a:xfrm>
            <a:off x="5221224" y="4240530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0" name="Text 25"/>
          <p:cNvSpPr/>
          <p:nvPr/>
        </p:nvSpPr>
        <p:spPr>
          <a:xfrm>
            <a:off x="914400" y="416052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תור שנבחר ננעל ללקוחות אחרים</a:t>
            </a:r>
            <a:endParaRPr lang="en-US" sz="1500" dirty="0"/>
          </a:p>
        </p:txBody>
      </p:sp>
      <p:sp>
        <p:nvSpPr>
          <p:cNvPr id="31" name="Shape 26"/>
          <p:cNvSpPr/>
          <p:nvPr/>
        </p:nvSpPr>
        <p:spPr>
          <a:xfrm>
            <a:off x="5221224" y="4743450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2" name="Text 27"/>
          <p:cNvSpPr/>
          <p:nvPr/>
        </p:nvSpPr>
        <p:spPr>
          <a:xfrm>
            <a:off x="914400" y="466344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 רואה את הסטטוס שלו</a:t>
            </a:r>
            <a:endParaRPr lang="en-US" sz="1500" dirty="0"/>
          </a:p>
        </p:txBody>
      </p:sp>
      <p:sp>
        <p:nvSpPr>
          <p:cNvPr id="33" name="Shape 28"/>
          <p:cNvSpPr/>
          <p:nvPr/>
        </p:nvSpPr>
        <p:spPr>
          <a:xfrm>
            <a:off x="5221224" y="5246370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4" name="Text 29"/>
          <p:cNvSpPr/>
          <p:nvPr/>
        </p:nvSpPr>
        <p:spPr>
          <a:xfrm>
            <a:off x="914400" y="5166360"/>
            <a:ext cx="4178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20"/>
              </a:lnSpc>
              <a:buNone/>
            </a:pPr>
            <a:r>
              <a:rPr lang="en-US" sz="150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היומן מסודר במקום אחד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42688" y="384048"/>
            <a:ext cx="2706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r>
              <a:rPr lang="he-IL" sz="3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עובד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153912" y="101498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מה בנינו בפועל, ומה בחרנו לא לבנות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91072" y="1536192"/>
            <a:ext cx="5349240" cy="3401568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792224"/>
            <a:ext cx="603504" cy="603504"/>
          </a:xfrm>
          <a:prstGeom prst="ellipse">
            <a:avLst/>
          </a:prstGeom>
          <a:solidFill>
            <a:srgbClr val="EFE4CE"/>
          </a:solidFill>
          <a:ln/>
        </p:spPr>
      </p:sp>
      <p:pic>
        <p:nvPicPr>
          <p:cNvPr id="6" name="Image 0" descr="/home/claude/deck/icons/user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7146" y="1955170"/>
            <a:ext cx="277612" cy="2776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38544" y="181051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הלקוח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1210544" y="2509647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9" name="Text 6"/>
          <p:cNvSpPr/>
          <p:nvPr/>
        </p:nvSpPr>
        <p:spPr>
          <a:xfrm>
            <a:off x="6638544" y="2432304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he-IL" sz="1450" dirty="0">
                <a:solidFill>
                  <a:srgbClr val="1F2933"/>
                </a:solidFill>
                <a:latin typeface="Arial" pitchFamily="34" charset="0"/>
                <a:cs typeface="Arial" pitchFamily="34" charset="-120"/>
              </a:rPr>
              <a:t>הרשמה והתחברות שכוללת סיסמה + </a:t>
            </a:r>
            <a:r>
              <a:rPr lang="en-US" sz="1450" dirty="0">
                <a:solidFill>
                  <a:srgbClr val="1F2933"/>
                </a:solidFill>
                <a:latin typeface="Arial" pitchFamily="34" charset="0"/>
                <a:cs typeface="Arial" pitchFamily="34" charset="-120"/>
              </a:rPr>
              <a:t>OTP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11210544" y="2921127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1" name="Text 8"/>
          <p:cNvSpPr/>
          <p:nvPr/>
        </p:nvSpPr>
        <p:spPr>
          <a:xfrm>
            <a:off x="6638544" y="2843784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צפייה בשירותי המספרה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11210544" y="3332607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3" name="Text 10"/>
          <p:cNvSpPr/>
          <p:nvPr/>
        </p:nvSpPr>
        <p:spPr>
          <a:xfrm>
            <a:off x="6638544" y="3255264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בחירת תאריך ושעה פנויים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11210544" y="3744087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5" name="Text 12"/>
          <p:cNvSpPr/>
          <p:nvPr/>
        </p:nvSpPr>
        <p:spPr>
          <a:xfrm>
            <a:off x="6638544" y="3666744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שליחת בקשת תור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11210544" y="4155567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7" name="Text 14"/>
          <p:cNvSpPr/>
          <p:nvPr/>
        </p:nvSpPr>
        <p:spPr>
          <a:xfrm>
            <a:off x="6638544" y="4078224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he-IL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אישי: התורים שלי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11210544" y="4567047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9" name="Text 16"/>
          <p:cNvSpPr/>
          <p:nvPr/>
        </p:nvSpPr>
        <p:spPr>
          <a:xfrm>
            <a:off x="6638544" y="4489704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he-IL" sz="1450" dirty="0">
                <a:solidFill>
                  <a:srgbClr val="1F2933"/>
                </a:solidFill>
                <a:latin typeface="Arial" pitchFamily="34" charset="0"/>
                <a:cs typeface="Arial" pitchFamily="34" charset="-120"/>
              </a:rPr>
              <a:t>סטטוס תור: </a:t>
            </a:r>
            <a:r>
              <a:rPr lang="en-US" sz="1450" dirty="0">
                <a:solidFill>
                  <a:srgbClr val="1F2933"/>
                </a:solidFill>
                <a:latin typeface="Arial" pitchFamily="34" charset="0"/>
                <a:cs typeface="Arial" pitchFamily="34" charset="-120"/>
              </a:rPr>
              <a:t>Confirmed, Canceled, Pending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548640" y="1536192"/>
            <a:ext cx="5349240" cy="3401568"/>
          </a:xfrm>
          <a:prstGeom prst="roundRect">
            <a:avLst>
              <a:gd name="adj" fmla="val 3763"/>
            </a:avLst>
          </a:prstGeom>
          <a:solidFill>
            <a:srgbClr val="1A1F26"/>
          </a:solidFill>
          <a:ln/>
        </p:spPr>
      </p:sp>
      <p:sp>
        <p:nvSpPr>
          <p:cNvPr id="21" name="Shape 18"/>
          <p:cNvSpPr/>
          <p:nvPr/>
        </p:nvSpPr>
        <p:spPr>
          <a:xfrm>
            <a:off x="5001768" y="1792224"/>
            <a:ext cx="603504" cy="603504"/>
          </a:xfrm>
          <a:prstGeom prst="ellipse">
            <a:avLst/>
          </a:prstGeom>
          <a:solidFill>
            <a:srgbClr val="C9A96A"/>
          </a:solidFill>
          <a:ln/>
        </p:spPr>
      </p:sp>
      <p:pic>
        <p:nvPicPr>
          <p:cNvPr id="22" name="Image 1" descr="/home/claude/deck/icons/gauge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4714" y="1955170"/>
            <a:ext cx="277612" cy="277612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896112" y="181051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בעל העסק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5468112" y="2509647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5" name="Text 21"/>
          <p:cNvSpPr/>
          <p:nvPr/>
        </p:nvSpPr>
        <p:spPr>
          <a:xfrm>
            <a:off x="896112" y="2432304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כניסה נפרדת עם קוד מנהל</a:t>
            </a:r>
            <a:endParaRPr lang="en-US" sz="1450" dirty="0"/>
          </a:p>
        </p:txBody>
      </p:sp>
      <p:sp>
        <p:nvSpPr>
          <p:cNvPr id="26" name="Shape 22"/>
          <p:cNvSpPr/>
          <p:nvPr/>
        </p:nvSpPr>
        <p:spPr>
          <a:xfrm>
            <a:off x="5468112" y="2921127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7" name="Text 23"/>
          <p:cNvSpPr/>
          <p:nvPr/>
        </p:nvSpPr>
        <p:spPr>
          <a:xfrm>
            <a:off x="896112" y="2843784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צפייה בבקשות תור ממתינות</a:t>
            </a:r>
            <a:endParaRPr lang="en-US" sz="1450" dirty="0"/>
          </a:p>
        </p:txBody>
      </p:sp>
      <p:sp>
        <p:nvSpPr>
          <p:cNvPr id="28" name="Shape 24"/>
          <p:cNvSpPr/>
          <p:nvPr/>
        </p:nvSpPr>
        <p:spPr>
          <a:xfrm>
            <a:off x="5468112" y="3332607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9" name="Text 25"/>
          <p:cNvSpPr/>
          <p:nvPr/>
        </p:nvSpPr>
        <p:spPr>
          <a:xfrm>
            <a:off x="896112" y="3255264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אישור או ביטול תור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68112" y="3744087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1" name="Text 27"/>
          <p:cNvSpPr/>
          <p:nvPr/>
        </p:nvSpPr>
        <p:spPr>
          <a:xfrm>
            <a:off x="896112" y="3666744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he-IL" sz="1450" dirty="0">
                <a:solidFill>
                  <a:srgbClr val="E8E4DC"/>
                </a:solidFill>
                <a:latin typeface="Arial" pitchFamily="34" charset="0"/>
                <a:cs typeface="Arial" pitchFamily="34" charset="-120"/>
              </a:rPr>
              <a:t>תורים להיום, עתידיים ומבוטלים</a:t>
            </a:r>
            <a:endParaRPr lang="en-US" sz="1450" dirty="0"/>
          </a:p>
        </p:txBody>
      </p:sp>
      <p:sp>
        <p:nvSpPr>
          <p:cNvPr id="32" name="Shape 28"/>
          <p:cNvSpPr/>
          <p:nvPr/>
        </p:nvSpPr>
        <p:spPr>
          <a:xfrm>
            <a:off x="5468112" y="4155567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3" name="Text 29"/>
          <p:cNvSpPr/>
          <p:nvPr/>
        </p:nvSpPr>
        <p:spPr>
          <a:xfrm>
            <a:off x="896112" y="4078224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רשימת הלקוחות</a:t>
            </a:r>
            <a:endParaRPr lang="en-US" sz="1450" dirty="0"/>
          </a:p>
        </p:txBody>
      </p:sp>
      <p:sp>
        <p:nvSpPr>
          <p:cNvPr id="34" name="Shape 30"/>
          <p:cNvSpPr/>
          <p:nvPr/>
        </p:nvSpPr>
        <p:spPr>
          <a:xfrm>
            <a:off x="5468112" y="4567047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5" name="Text 31"/>
          <p:cNvSpPr/>
          <p:nvPr/>
        </p:nvSpPr>
        <p:spPr>
          <a:xfrm>
            <a:off x="896112" y="4489704"/>
            <a:ext cx="4443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he-IL" sz="1450" dirty="0">
                <a:solidFill>
                  <a:srgbClr val="E8E4DC"/>
                </a:solidFill>
                <a:latin typeface="Arial" pitchFamily="34" charset="0"/>
                <a:cs typeface="Arial" pitchFamily="34" charset="-120"/>
              </a:rPr>
              <a:t>חסימת ימים, טווחי תאריכים ושעות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6291072" y="5138928"/>
            <a:ext cx="5349240" cy="1133856"/>
          </a:xfrm>
          <a:prstGeom prst="roundRect">
            <a:avLst>
              <a:gd name="adj" fmla="val 9677"/>
            </a:avLst>
          </a:prstGeom>
          <a:solidFill>
            <a:srgbClr val="EFE4CE"/>
          </a:solidFill>
          <a:ln/>
        </p:spPr>
      </p:sp>
      <p:sp>
        <p:nvSpPr>
          <p:cNvPr id="37" name="Shape 33"/>
          <p:cNvSpPr/>
          <p:nvPr/>
        </p:nvSpPr>
        <p:spPr>
          <a:xfrm>
            <a:off x="10799064" y="5449824"/>
            <a:ext cx="512064" cy="512064"/>
          </a:xfrm>
          <a:prstGeom prst="ellipse">
            <a:avLst/>
          </a:prstGeom>
          <a:solidFill>
            <a:srgbClr val="C9A96A"/>
          </a:solidFill>
          <a:ln/>
        </p:spPr>
      </p:sp>
      <p:pic>
        <p:nvPicPr>
          <p:cNvPr id="38" name="Image 2" descr="/home/claude/deck/icons/check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6224" y="5586984"/>
            <a:ext cx="237744" cy="237744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611112" y="5321808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6B5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בחרנו MVP</a:t>
            </a:r>
            <a:r>
              <a:rPr lang="he-IL" sz="1400" b="1" dirty="0">
                <a:solidFill>
                  <a:srgbClr val="6B5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ממוקד </a:t>
            </a:r>
            <a:r>
              <a:rPr lang="en-US" sz="1400" b="1" dirty="0">
                <a:solidFill>
                  <a:srgbClr val="6B5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ולא מערכת מפלצתית </a:t>
            </a:r>
            <a:r>
              <a:rPr lang="he-IL" sz="1400" b="1" dirty="0">
                <a:solidFill>
                  <a:srgbClr val="6B5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להציג מוצר יציב, ברור ועובד</a:t>
            </a:r>
            <a:endParaRPr lang="en-US" sz="1400" dirty="0"/>
          </a:p>
        </p:txBody>
      </p:sp>
      <p:sp>
        <p:nvSpPr>
          <p:cNvPr id="40" name="Shape 35"/>
          <p:cNvSpPr/>
          <p:nvPr/>
        </p:nvSpPr>
        <p:spPr>
          <a:xfrm>
            <a:off x="548640" y="5138928"/>
            <a:ext cx="5349240" cy="1133856"/>
          </a:xfrm>
          <a:prstGeom prst="roundRect">
            <a:avLst>
              <a:gd name="adj" fmla="val 9677"/>
            </a:avLst>
          </a:prstGeom>
          <a:solidFill>
            <a:srgbClr val="EDE7DD"/>
          </a:solidFill>
          <a:ln w="12700">
            <a:solidFill>
              <a:srgbClr val="CFC6B8"/>
            </a:solidFill>
            <a:prstDash val="dash"/>
          </a:ln>
        </p:spPr>
      </p:sp>
      <p:pic>
        <p:nvPicPr>
          <p:cNvPr id="41" name="Image 3" descr="/home/claude/deck/icons/image_mu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5522976"/>
            <a:ext cx="365760" cy="365760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1417320" y="532180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כאן להכניס צילום מסך מהמערכת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תהליך Vibe Coding מקצועי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לפני קוד, עבודה בשלבים קטנים, בדיקה לפני המשך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75036" y="2084832"/>
            <a:ext cx="530352" cy="530352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5" name="Text 3"/>
          <p:cNvSpPr/>
          <p:nvPr/>
        </p:nvSpPr>
        <p:spPr>
          <a:xfrm>
            <a:off x="10575036" y="2084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99548" y="2743200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500"/>
              </a:lnSpc>
              <a:buNone/>
            </a:pPr>
            <a:r>
              <a:rPr lang="en-US" sz="120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הגדרת בעיה אמיתית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993124" y="2084832"/>
            <a:ext cx="530352" cy="530352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8" name="Text 6"/>
          <p:cNvSpPr/>
          <p:nvPr/>
        </p:nvSpPr>
        <p:spPr>
          <a:xfrm>
            <a:off x="8993124" y="2084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517636" y="2743200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500"/>
              </a:lnSpc>
              <a:buNone/>
            </a:pPr>
            <a:r>
              <a:rPr lang="en-US" sz="120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כתיבת PRD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11212" y="2084832"/>
            <a:ext cx="530352" cy="530352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1" name="Text 9"/>
          <p:cNvSpPr/>
          <p:nvPr/>
        </p:nvSpPr>
        <p:spPr>
          <a:xfrm>
            <a:off x="7411212" y="2084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935724" y="2743200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500"/>
              </a:lnSpc>
              <a:buNone/>
            </a:pPr>
            <a:r>
              <a:rPr lang="en-US" sz="120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חלוקת תפקידים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29300" y="2084832"/>
            <a:ext cx="530352" cy="530352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4" name="Text 12"/>
          <p:cNvSpPr/>
          <p:nvPr/>
        </p:nvSpPr>
        <p:spPr>
          <a:xfrm>
            <a:off x="5829300" y="2084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53812" y="2743200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500"/>
              </a:lnSpc>
              <a:buNone/>
            </a:pPr>
            <a:r>
              <a:rPr lang="en-US" sz="120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MVP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47388" y="2084832"/>
            <a:ext cx="530352" cy="530352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17" name="Text 15"/>
          <p:cNvSpPr/>
          <p:nvPr/>
        </p:nvSpPr>
        <p:spPr>
          <a:xfrm>
            <a:off x="4247388" y="2084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771900" y="2743200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500"/>
              </a:lnSpc>
              <a:buNone/>
            </a:pPr>
            <a:r>
              <a:rPr lang="en-US" sz="120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 ושיפורים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665476" y="2084832"/>
            <a:ext cx="530352" cy="530352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0" name="Text 18"/>
          <p:cNvSpPr/>
          <p:nvPr/>
        </p:nvSpPr>
        <p:spPr>
          <a:xfrm>
            <a:off x="2665476" y="2084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2189988" y="2743200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500"/>
              </a:lnSpc>
              <a:buNone/>
            </a:pPr>
            <a:r>
              <a:rPr lang="en-US" sz="120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תיעוד החלטות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83564" y="2084832"/>
            <a:ext cx="530352" cy="530352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3" name="Text 21"/>
          <p:cNvSpPr/>
          <p:nvPr/>
        </p:nvSpPr>
        <p:spPr>
          <a:xfrm>
            <a:off x="1083564" y="2084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08076" y="2743200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500"/>
              </a:lnSpc>
              <a:buNone/>
            </a:pPr>
            <a:r>
              <a:rPr lang="en-US" sz="120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הכנה להצגה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363931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מוצר מרכזיות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8115300" y="4114800"/>
            <a:ext cx="3602736" cy="1133856"/>
          </a:xfrm>
          <a:prstGeom prst="roundRect">
            <a:avLst>
              <a:gd name="adj" fmla="val 8065"/>
            </a:avLst>
          </a:prstGeom>
          <a:solidFill>
            <a:srgbClr val="252C36"/>
          </a:solidFill>
          <a:ln/>
        </p:spPr>
      </p:sp>
      <p:pic>
        <p:nvPicPr>
          <p:cNvPr id="27" name="Image 0" descr="/home/claude/deck/icons/scissors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4804" y="4370832"/>
            <a:ext cx="329184" cy="32918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407908" y="4297680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מספרה אחת בלבד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8407908" y="471830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מיקוד במקום התפזרות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293108" y="4114800"/>
            <a:ext cx="3602736" cy="1133856"/>
          </a:xfrm>
          <a:prstGeom prst="roundRect">
            <a:avLst>
              <a:gd name="adj" fmla="val 8065"/>
            </a:avLst>
          </a:prstGeom>
          <a:solidFill>
            <a:srgbClr val="252C36"/>
          </a:solidFill>
          <a:ln/>
        </p:spPr>
      </p:sp>
      <p:pic>
        <p:nvPicPr>
          <p:cNvPr id="31" name="Image 1" descr="/home/claude/deck/icons/database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2612" y="4370832"/>
            <a:ext cx="329184" cy="329184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4585716" y="4297680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localStorage ולא DB חיצוני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4585716" y="471830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פחות נקודות כשל בדמו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470916" y="4114800"/>
            <a:ext cx="3602736" cy="1133856"/>
          </a:xfrm>
          <a:prstGeom prst="roundRect">
            <a:avLst>
              <a:gd name="adj" fmla="val 8065"/>
            </a:avLst>
          </a:prstGeom>
          <a:solidFill>
            <a:srgbClr val="252C36"/>
          </a:solidFill>
          <a:ln/>
        </p:spPr>
      </p:sp>
      <p:pic>
        <p:nvPicPr>
          <p:cNvPr id="35" name="Image 2" descr="/home/claude/deck/icons/shield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0420" y="4370832"/>
            <a:ext cx="329184" cy="329184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763524" y="4297680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 דמו בהרשמה ובכניסה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763524" y="471830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חשיבה אבטחתית מהתחלה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8115300" y="5431536"/>
            <a:ext cx="3602736" cy="1133856"/>
          </a:xfrm>
          <a:prstGeom prst="roundRect">
            <a:avLst>
              <a:gd name="adj" fmla="val 8065"/>
            </a:avLst>
          </a:prstGeom>
          <a:solidFill>
            <a:srgbClr val="252C36"/>
          </a:solidFill>
          <a:ln/>
        </p:spPr>
      </p:sp>
      <p:pic>
        <p:nvPicPr>
          <p:cNvPr id="39" name="Image 3" descr="/home/claude/deck/icons/lock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4804" y="5687568"/>
            <a:ext cx="329184" cy="329184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8407908" y="5614416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קשירת שם לתעודת זהות</a:t>
            </a:r>
            <a:endParaRPr lang="en-US" sz="1400" dirty="0"/>
          </a:p>
        </p:txBody>
      </p:sp>
      <p:sp>
        <p:nvSpPr>
          <p:cNvPr id="41" name="Text 35"/>
          <p:cNvSpPr/>
          <p:nvPr/>
        </p:nvSpPr>
        <p:spPr>
          <a:xfrm>
            <a:off x="8407908" y="60350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מניעת התחזות בסיסית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293108" y="5431536"/>
            <a:ext cx="3602736" cy="1133856"/>
          </a:xfrm>
          <a:prstGeom prst="roundRect">
            <a:avLst>
              <a:gd name="adj" fmla="val 8065"/>
            </a:avLst>
          </a:prstGeom>
          <a:solidFill>
            <a:srgbClr val="252C36"/>
          </a:solidFill>
          <a:ln/>
        </p:spPr>
      </p:sp>
      <p:pic>
        <p:nvPicPr>
          <p:cNvPr id="43" name="Image 4" descr="/home/claude/deck/icons/calendar_go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2612" y="5687568"/>
            <a:ext cx="329184" cy="329184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4585716" y="5614416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חסימת ימים ושעות</a:t>
            </a:r>
            <a:endParaRPr lang="en-US" sz="1400" dirty="0"/>
          </a:p>
        </p:txBody>
      </p:sp>
      <p:sp>
        <p:nvSpPr>
          <p:cNvPr id="45" name="Text 38"/>
          <p:cNvSpPr/>
          <p:nvPr/>
        </p:nvSpPr>
        <p:spPr>
          <a:xfrm>
            <a:off x="4585716" y="60350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יומן קרוב למציאות</a:t>
            </a:r>
            <a:endParaRPr lang="en-US" sz="1200" dirty="0"/>
          </a:p>
        </p:txBody>
      </p:sp>
      <p:sp>
        <p:nvSpPr>
          <p:cNvPr id="46" name="Shape 39"/>
          <p:cNvSpPr/>
          <p:nvPr/>
        </p:nvSpPr>
        <p:spPr>
          <a:xfrm>
            <a:off x="470916" y="5431536"/>
            <a:ext cx="3602736" cy="1133856"/>
          </a:xfrm>
          <a:prstGeom prst="roundRect">
            <a:avLst>
              <a:gd name="adj" fmla="val 8065"/>
            </a:avLst>
          </a:prstGeom>
          <a:solidFill>
            <a:srgbClr val="252C36"/>
          </a:solidFill>
          <a:ln/>
        </p:spPr>
      </p:sp>
      <p:pic>
        <p:nvPicPr>
          <p:cNvPr id="47" name="Image 5" descr="/home/claude/deck/icons/check_go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0420" y="5687568"/>
            <a:ext cx="329184" cy="329184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763524" y="5614416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עברית, RTL ומובייל</a:t>
            </a:r>
            <a:endParaRPr lang="en-US" sz="1400" dirty="0"/>
          </a:p>
        </p:txBody>
      </p:sp>
      <p:sp>
        <p:nvSpPr>
          <p:cNvPr id="49" name="Text 41"/>
          <p:cNvSpPr/>
          <p:nvPr/>
        </p:nvSpPr>
        <p:spPr>
          <a:xfrm>
            <a:off x="763524" y="60350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חוויית משתמש פשוטה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Demo וצעדים הבאים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9B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הנתונים נשמרים היום, ולאן המערכת יכולה להתפתח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91072" y="1572768"/>
            <a:ext cx="5349240" cy="3913632"/>
          </a:xfrm>
          <a:prstGeom prst="roundRect">
            <a:avLst>
              <a:gd name="adj" fmla="val 3271"/>
            </a:avLst>
          </a:prstGeom>
          <a:solidFill>
            <a:srgbClr val="252C36"/>
          </a:solidFill>
          <a:ln/>
        </p:spPr>
      </p:sp>
      <p:sp>
        <p:nvSpPr>
          <p:cNvPr id="5" name="Shape 3"/>
          <p:cNvSpPr/>
          <p:nvPr/>
        </p:nvSpPr>
        <p:spPr>
          <a:xfrm>
            <a:off x="10744200" y="1828800"/>
            <a:ext cx="603504" cy="603504"/>
          </a:xfrm>
          <a:prstGeom prst="ellipse">
            <a:avLst/>
          </a:prstGeom>
          <a:solidFill>
            <a:srgbClr val="C9A96A"/>
          </a:solidFill>
          <a:ln/>
        </p:spPr>
      </p:sp>
      <p:pic>
        <p:nvPicPr>
          <p:cNvPr id="6" name="Image 0" descr="/home/claude/deck/icons/databas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7936" y="200253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38544" y="1847088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היום: localStorage בדפדפן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6601968" y="2487168"/>
            <a:ext cx="4727448" cy="566928"/>
          </a:xfrm>
          <a:prstGeom prst="roundRect">
            <a:avLst>
              <a:gd name="adj" fmla="val 11290"/>
            </a:avLst>
          </a:prstGeom>
          <a:solidFill>
            <a:srgbClr val="1A1F26"/>
          </a:solidFill>
          <a:ln/>
        </p:spPr>
      </p:sp>
      <p:sp>
        <p:nvSpPr>
          <p:cNvPr id="9" name="Text 6"/>
          <p:cNvSpPr/>
          <p:nvPr/>
        </p:nvSpPr>
        <p:spPr>
          <a:xfrm>
            <a:off x="6729984" y="252374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queueless-users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9491472" y="2523744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רשומים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01968" y="3163824"/>
            <a:ext cx="4727448" cy="566928"/>
          </a:xfrm>
          <a:prstGeom prst="roundRect">
            <a:avLst>
              <a:gd name="adj" fmla="val 11290"/>
            </a:avLst>
          </a:prstGeom>
          <a:solidFill>
            <a:srgbClr val="1A1F26"/>
          </a:solidFill>
          <a:ln/>
        </p:spPr>
      </p:sp>
      <p:sp>
        <p:nvSpPr>
          <p:cNvPr id="12" name="Text 9"/>
          <p:cNvSpPr/>
          <p:nvPr/>
        </p:nvSpPr>
        <p:spPr>
          <a:xfrm>
            <a:off x="6729984" y="320040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 err="1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queueless_ux_appointments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491472" y="3200400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תורים וסטטוסים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01968" y="3840480"/>
            <a:ext cx="4727448" cy="566928"/>
          </a:xfrm>
          <a:prstGeom prst="roundRect">
            <a:avLst>
              <a:gd name="adj" fmla="val 11290"/>
            </a:avLst>
          </a:prstGeom>
          <a:solidFill>
            <a:srgbClr val="1A1F26"/>
          </a:solidFill>
          <a:ln/>
        </p:spPr>
      </p:sp>
      <p:sp>
        <p:nvSpPr>
          <p:cNvPr id="15" name="Text 12"/>
          <p:cNvSpPr/>
          <p:nvPr/>
        </p:nvSpPr>
        <p:spPr>
          <a:xfrm>
            <a:off x="6729984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queueless-blocked-dates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491472" y="3877056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חסימות ימים ושעות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601968" y="4517136"/>
            <a:ext cx="4727448" cy="566928"/>
          </a:xfrm>
          <a:prstGeom prst="roundRect">
            <a:avLst>
              <a:gd name="adj" fmla="val 11290"/>
            </a:avLst>
          </a:prstGeom>
          <a:solidFill>
            <a:srgbClr val="1A1F26"/>
          </a:solidFill>
          <a:ln/>
        </p:spPr>
      </p:sp>
      <p:sp>
        <p:nvSpPr>
          <p:cNvPr id="18" name="Text 15"/>
          <p:cNvSpPr/>
          <p:nvPr/>
        </p:nvSpPr>
        <p:spPr>
          <a:xfrm>
            <a:off x="6729984" y="455371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 err="1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queueless_ux_session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491472" y="4553712"/>
            <a:ext cx="1783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E8E4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המשתמש המחובר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1572768"/>
            <a:ext cx="5349240" cy="3913632"/>
          </a:xfrm>
          <a:prstGeom prst="roundRect">
            <a:avLst>
              <a:gd name="adj" fmla="val 3271"/>
            </a:avLst>
          </a:prstGeom>
          <a:solidFill>
            <a:srgbClr val="F5F1EA"/>
          </a:solidFill>
          <a:ln/>
        </p:spPr>
      </p:sp>
      <p:sp>
        <p:nvSpPr>
          <p:cNvPr id="21" name="Shape 18"/>
          <p:cNvSpPr/>
          <p:nvPr/>
        </p:nvSpPr>
        <p:spPr>
          <a:xfrm>
            <a:off x="5001768" y="1828800"/>
            <a:ext cx="603504" cy="603504"/>
          </a:xfrm>
          <a:prstGeom prst="ellipse">
            <a:avLst/>
          </a:prstGeom>
          <a:solidFill>
            <a:srgbClr val="1A1F26"/>
          </a:solidFill>
          <a:ln/>
        </p:spPr>
      </p:sp>
      <p:pic>
        <p:nvPicPr>
          <p:cNvPr id="22" name="Image 1" descr="/home/claude/deck/icons/rocket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993392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896112" y="1847088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הצעד הבא: Production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5468112" y="2582799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5" name="Text 21"/>
          <p:cNvSpPr/>
          <p:nvPr/>
        </p:nvSpPr>
        <p:spPr>
          <a:xfrm>
            <a:off x="896112" y="2505456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מסד נתונים אמיתי, למשל Supabase</a:t>
            </a:r>
            <a:endParaRPr lang="en-US" sz="1450" dirty="0"/>
          </a:p>
        </p:txBody>
      </p:sp>
      <p:sp>
        <p:nvSpPr>
          <p:cNvPr id="26" name="Shape 22"/>
          <p:cNvSpPr/>
          <p:nvPr/>
        </p:nvSpPr>
        <p:spPr>
          <a:xfrm>
            <a:off x="5468112" y="3039999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7" name="Text 23"/>
          <p:cNvSpPr/>
          <p:nvPr/>
        </p:nvSpPr>
        <p:spPr>
          <a:xfrm>
            <a:off x="896112" y="2962656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אימות משתמשים אמיתי והרשאות</a:t>
            </a:r>
            <a:endParaRPr lang="en-US" sz="1450" dirty="0"/>
          </a:p>
        </p:txBody>
      </p:sp>
      <p:sp>
        <p:nvSpPr>
          <p:cNvPr id="28" name="Shape 24"/>
          <p:cNvSpPr/>
          <p:nvPr/>
        </p:nvSpPr>
        <p:spPr>
          <a:xfrm>
            <a:off x="5468112" y="3497199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29" name="Text 25"/>
          <p:cNvSpPr/>
          <p:nvPr/>
        </p:nvSpPr>
        <p:spPr>
          <a:xfrm>
            <a:off x="896112" y="3419856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התראות SMS ו-WhatsApp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68112" y="3954399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1" name="Text 27"/>
          <p:cNvSpPr/>
          <p:nvPr/>
        </p:nvSpPr>
        <p:spPr>
          <a:xfrm>
            <a:off x="896112" y="3877056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תשלומים אונליין</a:t>
            </a:r>
            <a:endParaRPr lang="en-US" sz="1450" dirty="0"/>
          </a:p>
        </p:txBody>
      </p:sp>
      <p:sp>
        <p:nvSpPr>
          <p:cNvPr id="32" name="Shape 28"/>
          <p:cNvSpPr/>
          <p:nvPr/>
        </p:nvSpPr>
        <p:spPr>
          <a:xfrm>
            <a:off x="5468112" y="4411599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3" name="Text 29"/>
          <p:cNvSpPr/>
          <p:nvPr/>
        </p:nvSpPr>
        <p:spPr>
          <a:xfrm>
            <a:off x="896112" y="4334256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דוחות והכנסות לבעל העסק</a:t>
            </a:r>
            <a:endParaRPr lang="en-US" sz="1450" dirty="0"/>
          </a:p>
        </p:txBody>
      </p:sp>
      <p:sp>
        <p:nvSpPr>
          <p:cNvPr id="34" name="Shape 30"/>
          <p:cNvSpPr/>
          <p:nvPr/>
        </p:nvSpPr>
        <p:spPr>
          <a:xfrm>
            <a:off x="5468112" y="4868799"/>
            <a:ext cx="82296" cy="82296"/>
          </a:xfrm>
          <a:prstGeom prst="ellipse">
            <a:avLst/>
          </a:prstGeom>
          <a:solidFill>
            <a:srgbClr val="C9A96A"/>
          </a:solidFill>
          <a:ln/>
        </p:spPr>
      </p:sp>
      <p:sp>
        <p:nvSpPr>
          <p:cNvPr id="35" name="Text 31"/>
          <p:cNvSpPr/>
          <p:nvPr/>
        </p:nvSpPr>
        <p:spPr>
          <a:xfrm>
            <a:off x="896112" y="4791456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6"/>
              </a:lnSpc>
              <a:buNone/>
            </a:pPr>
            <a:r>
              <a:rPr lang="en-US" sz="14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תמיכה בכמה עסקים וספרים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5742432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C9A96A">
              <a:alpha val="12000"/>
            </a:srgbClr>
          </a:solidFill>
          <a:ln/>
        </p:spPr>
      </p:sp>
      <p:sp>
        <p:nvSpPr>
          <p:cNvPr id="37" name="Text 33"/>
          <p:cNvSpPr/>
          <p:nvPr/>
        </p:nvSpPr>
        <p:spPr>
          <a:xfrm>
            <a:off x="868680" y="5779008"/>
            <a:ext cx="104515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C9A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ב-MVP לקורס בחרנו במודע לשמור נתונים בדפדפן. במערכת אמיתית הנתונים יעברו ל-Backend עם Authentication, הרשאות והצפנה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493</Words>
  <Application>Microsoft Office PowerPoint</Application>
  <PresentationFormat>Widescreen</PresentationFormat>
  <Paragraphs>109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QueueLess - מספרת רמת גן</dc:title>
  <dc:subject>PptxGenJS Presentation</dc:subject>
  <dc:creator>QueueLess Team</dc:creator>
  <cp:lastModifiedBy>Yitzhak Yosef</cp:lastModifiedBy>
  <cp:revision>2</cp:revision>
  <dcterms:created xsi:type="dcterms:W3CDTF">2026-07-23T12:27:39Z</dcterms:created>
  <dcterms:modified xsi:type="dcterms:W3CDTF">2026-07-23T13:25:40Z</dcterms:modified>
</cp:coreProperties>
</file>