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9D6747-739E-40B9-85D1-44FD8110C92F}">
          <p14:sldIdLst>
            <p14:sldId id="256"/>
            <p14:sldId id="257"/>
            <p14:sldId id="258"/>
            <p14:sldId id="259"/>
            <p14:sldId id="261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A2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08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5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487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מציגים את השם, את העסק בדמו ואת חלוקת התפקידים בצוות. מזכירים שהמערכת חיה ונגישה בלינק.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מציגים את הכאב האמיתי של העסק הקטן, ואז את הפתרון. הדגש: מעבר מבלגן מבוזר למערכת אחת.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עוברים מסלול לקוח ואז מסלול בעל עסק. מדגישים שה-Scope צומצם במודע כדי להציג מוצר יציב.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מדגישים שלא כתבנו קוד לפני תכנון: PRD, WORK_LOGIC ו-TESTING נכתבו לפני ובמהלך הפיתוח, וכל החלטה מתועדת עם נימוק. הקבצים יושבים בתיקיית VIBE_CODING בריפו וניתן להראות אותם.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עוברים מסלול לקוח ואז מסלול בעל עסק. מדגישים שה-Scope צומצם במודע כדי להציג מוצר יציב.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73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פותחים DevTools ומראים את המפתחות בפועל. מסבירים למה localStorage מספיק לדמו ומה היה משתנה בפרודקשן.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C9A96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85800"/>
            <a:ext cx="3977640" cy="5486400"/>
          </a:xfrm>
          <a:prstGeom prst="roundRect">
            <a:avLst>
              <a:gd name="adj" fmla="val 3218"/>
            </a:avLst>
          </a:prstGeom>
          <a:solidFill>
            <a:srgbClr val="252C36"/>
          </a:solidFill>
          <a:ln w="12700">
            <a:solidFill>
              <a:srgbClr val="C9A96A"/>
            </a:solidFill>
            <a:prstDash val="dash"/>
          </a:ln>
        </p:spPr>
      </p:sp>
      <p:pic>
        <p:nvPicPr>
          <p:cNvPr id="4" name="Image 0" descr="/home/claude/deck/icons/image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288036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611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9BA3AE"/>
                </a:solidFill>
                <a:ea typeface="Arial" pitchFamily="34" charset="-122"/>
                <a:cs typeface="Arial" pitchFamily="34" charset="-120"/>
              </a:rPr>
              <a:t>כאן להכניס תמונת מספרה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0844784" y="749808"/>
            <a:ext cx="795528" cy="795528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7" name="Image 1" descr="/home/claude/deck/icons/cream_sciss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9577" y="964601"/>
            <a:ext cx="365943" cy="3659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0" y="71323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400" b="1" kern="0" spc="100" dirty="0">
                <a:solidFill>
                  <a:srgbClr val="F5F1EA"/>
                </a:solidFill>
                <a:ea typeface="Arial" pitchFamily="34" charset="-122"/>
                <a:cs typeface="Arial" pitchFamily="34" charset="-120"/>
              </a:rPr>
              <a:t>QueueLess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4709160" y="1691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C9A96A"/>
                </a:solidFill>
                <a:ea typeface="Arial" pitchFamily="34" charset="-122"/>
                <a:cs typeface="Arial" pitchFamily="34" charset="-120"/>
              </a:rPr>
              <a:t>מערכת לקביעת וניהול תורים עבור מספרת רמת גן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709160" y="221284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9BA3AE"/>
                </a:solidFill>
                <a:ea typeface="Arial" pitchFamily="34" charset="-122"/>
                <a:cs typeface="Arial" pitchFamily="34" charset="-120"/>
              </a:rPr>
              <a:t>מסחר עסקים דיגיטליים יישומיים</a:t>
            </a:r>
            <a:r>
              <a:rPr lang="he-IL" sz="1350" dirty="0">
                <a:solidFill>
                  <a:srgbClr val="9BA3AE"/>
                </a:solidFill>
                <a:ea typeface="Arial" pitchFamily="34" charset="-122"/>
                <a:cs typeface="Arial" pitchFamily="34" charset="-120"/>
              </a:rPr>
              <a:t> |</a:t>
            </a:r>
            <a:r>
              <a:rPr lang="en-US" sz="1350" dirty="0">
                <a:solidFill>
                  <a:srgbClr val="9BA3AE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he-IL" sz="1350" dirty="0">
                <a:solidFill>
                  <a:srgbClr val="9BA3AE"/>
                </a:solidFill>
                <a:ea typeface="Arial" pitchFamily="34" charset="-122"/>
                <a:cs typeface="Arial" pitchFamily="34" charset="-120"/>
              </a:rPr>
              <a:t>פרויקט </a:t>
            </a:r>
            <a:r>
              <a:rPr lang="en-US" sz="1350" dirty="0">
                <a:solidFill>
                  <a:srgbClr val="9BA3AE"/>
                </a:solidFill>
                <a:ea typeface="Arial" pitchFamily="34" charset="-122"/>
                <a:cs typeface="Arial" pitchFamily="34" charset="-120"/>
              </a:rPr>
              <a:t>Vibe Coding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709160" y="2852928"/>
            <a:ext cx="6949440" cy="621792"/>
          </a:xfrm>
          <a:prstGeom prst="roundRect">
            <a:avLst>
              <a:gd name="adj" fmla="val 14706"/>
            </a:avLst>
          </a:prstGeom>
          <a:solidFill>
            <a:srgbClr val="252C36"/>
          </a:solidFill>
          <a:ln/>
        </p:spPr>
      </p:sp>
      <p:sp>
        <p:nvSpPr>
          <p:cNvPr id="12" name="Text 8"/>
          <p:cNvSpPr/>
          <p:nvPr/>
        </p:nvSpPr>
        <p:spPr>
          <a:xfrm>
            <a:off x="9509760" y="28803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1EA"/>
                </a:solidFill>
                <a:ea typeface="Arial" pitchFamily="34" charset="-122"/>
                <a:cs typeface="Arial" pitchFamily="34" charset="-120"/>
              </a:rPr>
              <a:t>יצחק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903720" y="2880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C9A96A"/>
                </a:solidFill>
                <a:ea typeface="Arial" pitchFamily="34" charset="-122"/>
                <a:cs typeface="Arial" pitchFamily="34" charset="-120"/>
              </a:rPr>
              <a:t>Product Architect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37760" y="28803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he-IL" sz="1150" dirty="0">
                <a:solidFill>
                  <a:srgbClr val="9BA3AE"/>
                </a:solidFill>
                <a:cs typeface="Arial" pitchFamily="34" charset="-120"/>
              </a:rPr>
              <a:t>ת.ז - 111111111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709160" y="3611880"/>
            <a:ext cx="6949440" cy="621792"/>
          </a:xfrm>
          <a:prstGeom prst="roundRect">
            <a:avLst>
              <a:gd name="adj" fmla="val 14706"/>
            </a:avLst>
          </a:prstGeom>
          <a:solidFill>
            <a:srgbClr val="252C36"/>
          </a:solidFill>
          <a:ln/>
        </p:spPr>
      </p:sp>
      <p:sp>
        <p:nvSpPr>
          <p:cNvPr id="16" name="Text 12"/>
          <p:cNvSpPr/>
          <p:nvPr/>
        </p:nvSpPr>
        <p:spPr>
          <a:xfrm>
            <a:off x="9509760" y="363931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1EA"/>
                </a:solidFill>
                <a:ea typeface="Arial" pitchFamily="34" charset="-122"/>
                <a:cs typeface="Arial" pitchFamily="34" charset="-120"/>
              </a:rPr>
              <a:t>אביטל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03720" y="36393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C9A96A"/>
                </a:solidFill>
                <a:ea typeface="Arial" pitchFamily="34" charset="-122"/>
                <a:cs typeface="Arial" pitchFamily="34" charset="-120"/>
              </a:rPr>
              <a:t>UX Designer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937760" y="363931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he-IL" sz="1150" dirty="0">
                <a:solidFill>
                  <a:srgbClr val="9BA3AE"/>
                </a:solidFill>
                <a:cs typeface="Arial" pitchFamily="34" charset="-120"/>
              </a:rPr>
              <a:t>ת.ז - 111111111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709160" y="4370832"/>
            <a:ext cx="6949440" cy="621792"/>
          </a:xfrm>
          <a:prstGeom prst="roundRect">
            <a:avLst>
              <a:gd name="adj" fmla="val 14706"/>
            </a:avLst>
          </a:prstGeom>
          <a:solidFill>
            <a:srgbClr val="252C36"/>
          </a:solidFill>
          <a:ln/>
        </p:spPr>
      </p:sp>
      <p:sp>
        <p:nvSpPr>
          <p:cNvPr id="20" name="Text 16"/>
          <p:cNvSpPr/>
          <p:nvPr/>
        </p:nvSpPr>
        <p:spPr>
          <a:xfrm>
            <a:off x="9509760" y="439826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1EA"/>
                </a:solidFill>
                <a:ea typeface="Arial" pitchFamily="34" charset="-122"/>
                <a:cs typeface="Arial" pitchFamily="34" charset="-120"/>
              </a:rPr>
              <a:t>רועי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903720" y="439826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C9A96A"/>
                </a:solidFill>
                <a:ea typeface="Arial" pitchFamily="34" charset="-122"/>
                <a:cs typeface="Arial" pitchFamily="34" charset="-120"/>
              </a:rPr>
              <a:t>Lead Builder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937760" y="439826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he-IL" sz="1150" dirty="0">
                <a:solidFill>
                  <a:srgbClr val="9BA3AE"/>
                </a:solidFill>
                <a:cs typeface="Arial" pitchFamily="34" charset="-120"/>
              </a:rPr>
              <a:t>ת.ז - 111111111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709160" y="5129784"/>
            <a:ext cx="6949440" cy="621792"/>
          </a:xfrm>
          <a:prstGeom prst="roundRect">
            <a:avLst>
              <a:gd name="adj" fmla="val 14706"/>
            </a:avLst>
          </a:prstGeom>
          <a:solidFill>
            <a:srgbClr val="252C36"/>
          </a:solidFill>
          <a:ln/>
        </p:spPr>
      </p:sp>
      <p:sp>
        <p:nvSpPr>
          <p:cNvPr id="24" name="Text 20"/>
          <p:cNvSpPr/>
          <p:nvPr/>
        </p:nvSpPr>
        <p:spPr>
          <a:xfrm>
            <a:off x="9509760" y="515721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1EA"/>
                </a:solidFill>
                <a:ea typeface="Arial" pitchFamily="34" charset="-122"/>
                <a:cs typeface="Arial" pitchFamily="34" charset="-120"/>
              </a:rPr>
              <a:t>עומרי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903720" y="515721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C9A96A"/>
                </a:solidFill>
                <a:ea typeface="Arial" pitchFamily="34" charset="-122"/>
                <a:cs typeface="Arial" pitchFamily="34" charset="-120"/>
              </a:rPr>
              <a:t>QA Engineer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937760" y="515721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he-IL" sz="1150" dirty="0">
                <a:solidFill>
                  <a:srgbClr val="9BA3AE"/>
                </a:solidFill>
                <a:cs typeface="Arial" pitchFamily="34" charset="-120"/>
              </a:rPr>
              <a:t>ת.ז - 111111111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709160" y="5989320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C9A96A">
              <a:alpha val="14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4846320" y="6007608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C9A96A"/>
                </a:solidFill>
                <a:cs typeface="Arial" pitchFamily="34" charset="-120"/>
              </a:rPr>
              <a:t>Link: </a:t>
            </a:r>
            <a:r>
              <a:rPr lang="en-US" sz="1300" dirty="0">
                <a:solidFill>
                  <a:srgbClr val="C9A96A"/>
                </a:solidFill>
                <a:ea typeface="Arial" pitchFamily="34" charset="-122"/>
                <a:cs typeface="Arial" pitchFamily="34" charset="-120"/>
              </a:rPr>
              <a:t>https://queue-less-rho.vercel.app/QueueLess_v5.html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C4FC8AE-990F-7806-791A-9A8167D5F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321" y="569343"/>
            <a:ext cx="4140679" cy="57710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2649" y="329400"/>
            <a:ext cx="64233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800" b="1" dirty="0">
                <a:solidFill>
                  <a:srgbClr val="1F2933"/>
                </a:solidFill>
                <a:cs typeface="Arial" pitchFamily="34" charset="-120"/>
              </a:rPr>
              <a:t>הבעיה ש- </a:t>
            </a:r>
            <a:r>
              <a:rPr lang="en-US" sz="3800" b="1" dirty="0">
                <a:solidFill>
                  <a:srgbClr val="1F2933"/>
                </a:solidFill>
                <a:cs typeface="Arial" pitchFamily="34" charset="-120"/>
              </a:rPr>
              <a:t>QueueLess</a:t>
            </a:r>
            <a:r>
              <a:rPr lang="he-IL" sz="3800" b="1" dirty="0">
                <a:solidFill>
                  <a:srgbClr val="1F2933"/>
                </a:solidFill>
                <a:cs typeface="Arial" pitchFamily="34" charset="-120"/>
              </a:rPr>
              <a:t> פותרת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he-IL" sz="1600" b="1" dirty="0">
                <a:solidFill>
                  <a:srgbClr val="6B5426"/>
                </a:solidFill>
                <a:ea typeface="Arial" pitchFamily="34" charset="-122"/>
                <a:cs typeface="Arial" pitchFamily="34" charset="-120"/>
              </a:rPr>
              <a:t>עסקים קטנים עדיין מנהלים תורים דרך שיחות טלפון, יומן ידני ו- </a:t>
            </a:r>
            <a:r>
              <a:rPr lang="en-US" sz="1600" b="1" dirty="0">
                <a:solidFill>
                  <a:srgbClr val="6B5426"/>
                </a:solidFill>
                <a:ea typeface="Arial" pitchFamily="34" charset="-122"/>
                <a:cs typeface="Arial" pitchFamily="34" charset="-120"/>
              </a:rPr>
              <a:t>WhatsApp</a:t>
            </a:r>
            <a:r>
              <a:rPr lang="he-IL" sz="1600" b="1" dirty="0">
                <a:solidFill>
                  <a:srgbClr val="6B5426"/>
                </a:solidFill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ctr" rtl="1">
              <a:buNone/>
            </a:pPr>
            <a:endParaRPr lang="he-IL" sz="1500" dirty="0"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19672" y="1783080"/>
            <a:ext cx="512064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07624" y="2093976"/>
            <a:ext cx="658368" cy="658368"/>
          </a:xfrm>
          <a:prstGeom prst="ellipse">
            <a:avLst/>
          </a:prstGeom>
          <a:solidFill>
            <a:srgbClr val="F6E2DF"/>
          </a:solidFill>
          <a:ln/>
        </p:spPr>
      </p:sp>
      <p:pic>
        <p:nvPicPr>
          <p:cNvPr id="6" name="Image 0" descr="/home/claude/deck/icons/triangle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383" y="2271735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85432" y="2130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B4483C"/>
                </a:solidFill>
                <a:ea typeface="Arial" pitchFamily="34" charset="-122"/>
                <a:cs typeface="Arial" pitchFamily="34" charset="-120"/>
              </a:rPr>
              <a:t>לפני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85432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300" dirty="0">
                <a:solidFill>
                  <a:srgbClr val="6B7280"/>
                </a:solidFill>
                <a:cs typeface="Arial" pitchFamily="34" charset="-120"/>
              </a:rPr>
              <a:t>שיחות טלפון | יומן ידני | </a:t>
            </a:r>
            <a:r>
              <a:rPr lang="en-US" sz="1300" dirty="0">
                <a:solidFill>
                  <a:srgbClr val="6B7280"/>
                </a:solidFill>
                <a:cs typeface="Arial" pitchFamily="34" charset="-120"/>
              </a:rPr>
              <a:t>WhatsApp 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1192256" y="3234690"/>
            <a:ext cx="82296" cy="82296"/>
          </a:xfrm>
          <a:prstGeom prst="ellipse">
            <a:avLst/>
          </a:prstGeom>
          <a:solidFill>
            <a:srgbClr val="B4483C"/>
          </a:solidFill>
          <a:ln/>
        </p:spPr>
      </p:sp>
      <p:sp>
        <p:nvSpPr>
          <p:cNvPr id="10" name="Text 7"/>
          <p:cNvSpPr/>
          <p:nvPr/>
        </p:nvSpPr>
        <p:spPr>
          <a:xfrm>
            <a:off x="6885432" y="3154680"/>
            <a:ext cx="4178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20"/>
              </a:lnSpc>
              <a:buNone/>
            </a:pPr>
            <a:r>
              <a:rPr lang="en-US" sz="150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כפילויות בתורים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192256" y="3737610"/>
            <a:ext cx="82296" cy="82296"/>
          </a:xfrm>
          <a:prstGeom prst="ellipse">
            <a:avLst/>
          </a:prstGeom>
          <a:solidFill>
            <a:srgbClr val="B4483C"/>
          </a:solidFill>
          <a:ln/>
        </p:spPr>
      </p:sp>
      <p:sp>
        <p:nvSpPr>
          <p:cNvPr id="12" name="Text 9"/>
          <p:cNvSpPr/>
          <p:nvPr/>
        </p:nvSpPr>
        <p:spPr>
          <a:xfrm>
            <a:off x="6885432" y="3657600"/>
            <a:ext cx="4178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20"/>
              </a:lnSpc>
              <a:buNone/>
            </a:pPr>
            <a:r>
              <a:rPr lang="en-US" sz="150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ביטולים שלא מתועדים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1192256" y="4240530"/>
            <a:ext cx="82296" cy="82296"/>
          </a:xfrm>
          <a:prstGeom prst="ellipse">
            <a:avLst/>
          </a:prstGeom>
          <a:solidFill>
            <a:srgbClr val="B4483C"/>
          </a:solidFill>
          <a:ln/>
        </p:spPr>
      </p:sp>
      <p:sp>
        <p:nvSpPr>
          <p:cNvPr id="14" name="Text 11"/>
          <p:cNvSpPr/>
          <p:nvPr/>
        </p:nvSpPr>
        <p:spPr>
          <a:xfrm>
            <a:off x="6885432" y="4160520"/>
            <a:ext cx="4178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20"/>
              </a:lnSpc>
              <a:buNone/>
            </a:pPr>
            <a:r>
              <a:rPr lang="en-US" sz="150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עומס מתמיד על בעל העסק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192256" y="4743450"/>
            <a:ext cx="82296" cy="82296"/>
          </a:xfrm>
          <a:prstGeom prst="ellipse">
            <a:avLst/>
          </a:prstGeom>
          <a:solidFill>
            <a:srgbClr val="B4483C"/>
          </a:solidFill>
          <a:ln/>
        </p:spPr>
      </p:sp>
      <p:sp>
        <p:nvSpPr>
          <p:cNvPr id="16" name="Text 13"/>
          <p:cNvSpPr/>
          <p:nvPr/>
        </p:nvSpPr>
        <p:spPr>
          <a:xfrm>
            <a:off x="6885432" y="4663440"/>
            <a:ext cx="4178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20"/>
              </a:lnSpc>
              <a:buNone/>
            </a:pPr>
            <a:r>
              <a:rPr lang="en-US" sz="150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חוסר ודאות ללקוח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1192256" y="5246370"/>
            <a:ext cx="82296" cy="82296"/>
          </a:xfrm>
          <a:prstGeom prst="ellipse">
            <a:avLst/>
          </a:prstGeom>
          <a:solidFill>
            <a:srgbClr val="B4483C"/>
          </a:solidFill>
          <a:ln/>
        </p:spPr>
      </p:sp>
      <p:sp>
        <p:nvSpPr>
          <p:cNvPr id="18" name="Text 15"/>
          <p:cNvSpPr/>
          <p:nvPr/>
        </p:nvSpPr>
        <p:spPr>
          <a:xfrm>
            <a:off x="6885432" y="5166360"/>
            <a:ext cx="4178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20"/>
              </a:lnSpc>
              <a:buNone/>
            </a:pPr>
            <a:r>
              <a:rPr lang="en-US" sz="150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אין תמונת יומן בזמן אמת</a:t>
            </a:r>
            <a:endParaRPr lang="en-US" sz="1500" dirty="0"/>
          </a:p>
        </p:txBody>
      </p:sp>
      <p:pic>
        <p:nvPicPr>
          <p:cNvPr id="19" name="Image 1" descr="/home/claude/deck/icons/arrowlef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3611880"/>
            <a:ext cx="548640" cy="5486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48640" y="1783080"/>
            <a:ext cx="5120640" cy="4160520"/>
          </a:xfrm>
          <a:prstGeom prst="roundRect">
            <a:avLst>
              <a:gd name="adj" fmla="val 3077"/>
            </a:avLst>
          </a:prstGeom>
          <a:solidFill>
            <a:srgbClr val="1A1F26"/>
          </a:solidFill>
          <a:ln/>
        </p:spPr>
      </p:sp>
      <p:sp>
        <p:nvSpPr>
          <p:cNvPr id="21" name="Shape 17"/>
          <p:cNvSpPr/>
          <p:nvPr/>
        </p:nvSpPr>
        <p:spPr>
          <a:xfrm>
            <a:off x="4736592" y="2093976"/>
            <a:ext cx="658368" cy="658368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22" name="Image 2" descr="/home/claude/deck/icons/cream_scisso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351" y="2271735"/>
            <a:ext cx="302849" cy="3028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4400" y="2130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C9A96A"/>
                </a:solidFill>
                <a:ea typeface="Arial" pitchFamily="34" charset="-122"/>
                <a:cs typeface="Arial" pitchFamily="34" charset="-120"/>
              </a:rPr>
              <a:t>אחרי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914400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9BA3AE"/>
                </a:solidFill>
                <a:ea typeface="Arial" pitchFamily="34" charset="-122"/>
                <a:cs typeface="Arial" pitchFamily="34" charset="-120"/>
              </a:rPr>
              <a:t>מערכת אחת מסודרת </a:t>
            </a:r>
            <a:r>
              <a:rPr lang="he-IL" sz="1300" dirty="0">
                <a:solidFill>
                  <a:srgbClr val="9BA3AE"/>
                </a:solidFill>
                <a:ea typeface="Arial" pitchFamily="34" charset="-122"/>
                <a:cs typeface="Arial" pitchFamily="34" charset="-120"/>
              </a:rPr>
              <a:t>וזמינה מכל מקום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221224" y="3234690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26" name="Text 21"/>
          <p:cNvSpPr/>
          <p:nvPr/>
        </p:nvSpPr>
        <p:spPr>
          <a:xfrm>
            <a:off x="914400" y="3154680"/>
            <a:ext cx="4178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20"/>
              </a:lnSpc>
              <a:buNone/>
            </a:pPr>
            <a:r>
              <a:rPr lang="en-US" sz="150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הלקוח קובע תור בעצמו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221224" y="3737610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28" name="Text 23"/>
          <p:cNvSpPr/>
          <p:nvPr/>
        </p:nvSpPr>
        <p:spPr>
          <a:xfrm>
            <a:off x="914400" y="3657600"/>
            <a:ext cx="4178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20"/>
              </a:lnSpc>
              <a:buNone/>
            </a:pPr>
            <a:r>
              <a:rPr lang="en-US" sz="150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בעל העסק מאשר או מבטל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5221224" y="4240530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30" name="Text 25"/>
          <p:cNvSpPr/>
          <p:nvPr/>
        </p:nvSpPr>
        <p:spPr>
          <a:xfrm>
            <a:off x="914400" y="4160520"/>
            <a:ext cx="4178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20"/>
              </a:lnSpc>
              <a:buNone/>
            </a:pPr>
            <a:r>
              <a:rPr lang="en-US" sz="150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תור שנבחר ננעל ללקוחות אחרים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5221224" y="4743450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32" name="Text 27"/>
          <p:cNvSpPr/>
          <p:nvPr/>
        </p:nvSpPr>
        <p:spPr>
          <a:xfrm>
            <a:off x="914400" y="4663440"/>
            <a:ext cx="4178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20"/>
              </a:lnSpc>
              <a:buNone/>
            </a:pPr>
            <a:r>
              <a:rPr lang="en-US" sz="150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הלקוח רואה את הסטטוס שלו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5221224" y="5246370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34" name="Text 29"/>
          <p:cNvSpPr/>
          <p:nvPr/>
        </p:nvSpPr>
        <p:spPr>
          <a:xfrm>
            <a:off x="914400" y="5166360"/>
            <a:ext cx="4178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20"/>
              </a:lnSpc>
              <a:buNone/>
            </a:pPr>
            <a:r>
              <a:rPr lang="en-US" sz="150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היומן מסודר במקום אחד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17046" y="215113"/>
            <a:ext cx="19579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6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MVP</a:t>
            </a:r>
            <a:r>
              <a:rPr lang="he-IL" sz="38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 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302102" y="950976"/>
            <a:ext cx="71915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b="1" dirty="0">
                <a:solidFill>
                  <a:srgbClr val="6B5426"/>
                </a:solidFill>
                <a:ea typeface="Arial" pitchFamily="34" charset="-122"/>
                <a:cs typeface="Arial" pitchFamily="34" charset="-120"/>
              </a:rPr>
              <a:t>בחרנו </a:t>
            </a:r>
            <a:r>
              <a:rPr lang="en-US" sz="1600" b="1" dirty="0">
                <a:solidFill>
                  <a:srgbClr val="6B5426"/>
                </a:solidFill>
                <a:ea typeface="Arial" pitchFamily="34" charset="-122"/>
                <a:cs typeface="Arial" pitchFamily="34" charset="-120"/>
              </a:rPr>
              <a:t>MVP</a:t>
            </a:r>
            <a:r>
              <a:rPr lang="he-IL" sz="1600" b="1" dirty="0">
                <a:solidFill>
                  <a:srgbClr val="6B5426"/>
                </a:solidFill>
                <a:ea typeface="Arial" pitchFamily="34" charset="-122"/>
                <a:cs typeface="Arial" pitchFamily="34" charset="-120"/>
              </a:rPr>
              <a:t> ממוקד כדי להציג מוצר יציב, ברור ועובד שיהיה פשוט להבנה ושימוש</a:t>
            </a:r>
          </a:p>
        </p:txBody>
      </p:sp>
      <p:sp>
        <p:nvSpPr>
          <p:cNvPr id="4" name="Shape 2"/>
          <p:cNvSpPr/>
          <p:nvPr/>
        </p:nvSpPr>
        <p:spPr>
          <a:xfrm>
            <a:off x="6291072" y="1417320"/>
            <a:ext cx="5349240" cy="3401568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1652569"/>
            <a:ext cx="603504" cy="603504"/>
          </a:xfrm>
          <a:prstGeom prst="ellipse">
            <a:avLst/>
          </a:prstGeom>
          <a:solidFill>
            <a:srgbClr val="EFE4CE"/>
          </a:solidFill>
          <a:ln/>
        </p:spPr>
      </p:sp>
      <p:pic>
        <p:nvPicPr>
          <p:cNvPr id="6" name="Image 0" descr="/home/claude/deck/icons/us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7146" y="1815515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38544" y="1670857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הלקוח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1210544" y="2369992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9" name="Text 6"/>
          <p:cNvSpPr/>
          <p:nvPr/>
        </p:nvSpPr>
        <p:spPr>
          <a:xfrm>
            <a:off x="6638544" y="2292649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הרשמה </a:t>
            </a:r>
            <a:r>
              <a:rPr lang="he-IL" sz="145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והתחברות עם נייד, סיסמה ו- </a:t>
            </a:r>
            <a:r>
              <a:rPr lang="en-US" sz="145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OTP</a:t>
            </a:r>
            <a:endParaRPr lang="he-IL" sz="1450" dirty="0">
              <a:solidFill>
                <a:srgbClr val="1F2933"/>
              </a:solidFill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1210544" y="2781472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11" name="Text 8"/>
          <p:cNvSpPr/>
          <p:nvPr/>
        </p:nvSpPr>
        <p:spPr>
          <a:xfrm>
            <a:off x="6638544" y="2704129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צפייה בשירותי המספרה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1210544" y="3192952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13" name="Text 10"/>
          <p:cNvSpPr/>
          <p:nvPr/>
        </p:nvSpPr>
        <p:spPr>
          <a:xfrm>
            <a:off x="6638544" y="3115609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בחירת תאריך ושעה פנויים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210544" y="3604432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15" name="Text 12"/>
          <p:cNvSpPr/>
          <p:nvPr/>
        </p:nvSpPr>
        <p:spPr>
          <a:xfrm>
            <a:off x="6638544" y="3527089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שליחת בקשת תור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11210544" y="4015912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17" name="Text 14"/>
          <p:cNvSpPr/>
          <p:nvPr/>
        </p:nvSpPr>
        <p:spPr>
          <a:xfrm>
            <a:off x="6638544" y="3938569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מסך אישי</a:t>
            </a:r>
            <a:r>
              <a:rPr lang="he-IL" sz="145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: התורים שלי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11210544" y="4427392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19" name="Text 16"/>
          <p:cNvSpPr/>
          <p:nvPr/>
        </p:nvSpPr>
        <p:spPr>
          <a:xfrm>
            <a:off x="6638544" y="4350049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סטטוס </a:t>
            </a:r>
            <a:r>
              <a:rPr lang="he-IL" sz="145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תור: </a:t>
            </a:r>
            <a:r>
              <a:rPr lang="en-US" sz="1450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Confirmed, Pending, Canceled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48640" y="1396537"/>
            <a:ext cx="5349240" cy="3401568"/>
          </a:xfrm>
          <a:prstGeom prst="roundRect">
            <a:avLst>
              <a:gd name="adj" fmla="val 3763"/>
            </a:avLst>
          </a:prstGeom>
          <a:solidFill>
            <a:srgbClr val="1A1F26"/>
          </a:solidFill>
          <a:ln/>
        </p:spPr>
      </p:sp>
      <p:sp>
        <p:nvSpPr>
          <p:cNvPr id="21" name="Shape 18"/>
          <p:cNvSpPr/>
          <p:nvPr/>
        </p:nvSpPr>
        <p:spPr>
          <a:xfrm>
            <a:off x="5001768" y="1652569"/>
            <a:ext cx="603504" cy="603504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22" name="Image 1" descr="/home/claude/deck/icons/gaug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714" y="1815515"/>
            <a:ext cx="277612" cy="2776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96112" y="1670857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A"/>
                </a:solidFill>
                <a:ea typeface="Arial" pitchFamily="34" charset="-122"/>
                <a:cs typeface="Arial" pitchFamily="34" charset="-120"/>
              </a:rPr>
              <a:t>בעל העסק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5468112" y="2369992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25" name="Text 21"/>
          <p:cNvSpPr/>
          <p:nvPr/>
        </p:nvSpPr>
        <p:spPr>
          <a:xfrm>
            <a:off x="896112" y="2292649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כניסה נפרדת עם קוד מנהל</a:t>
            </a:r>
            <a:endParaRPr lang="en-US" sz="1450" dirty="0"/>
          </a:p>
        </p:txBody>
      </p:sp>
      <p:sp>
        <p:nvSpPr>
          <p:cNvPr id="26" name="Shape 22"/>
          <p:cNvSpPr/>
          <p:nvPr/>
        </p:nvSpPr>
        <p:spPr>
          <a:xfrm>
            <a:off x="5468112" y="2781472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27" name="Text 23"/>
          <p:cNvSpPr/>
          <p:nvPr/>
        </p:nvSpPr>
        <p:spPr>
          <a:xfrm>
            <a:off x="896112" y="2704129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צפייה בבקשות תור ממתינות</a:t>
            </a:r>
            <a:endParaRPr lang="en-US" sz="1450" dirty="0"/>
          </a:p>
        </p:txBody>
      </p:sp>
      <p:sp>
        <p:nvSpPr>
          <p:cNvPr id="28" name="Shape 24"/>
          <p:cNvSpPr/>
          <p:nvPr/>
        </p:nvSpPr>
        <p:spPr>
          <a:xfrm>
            <a:off x="5468112" y="3192952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29" name="Text 25"/>
          <p:cNvSpPr/>
          <p:nvPr/>
        </p:nvSpPr>
        <p:spPr>
          <a:xfrm>
            <a:off x="896112" y="3115609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אישור או ביטול תור</a:t>
            </a:r>
            <a:endParaRPr lang="en-US" sz="1450" dirty="0"/>
          </a:p>
        </p:txBody>
      </p:sp>
      <p:sp>
        <p:nvSpPr>
          <p:cNvPr id="30" name="Shape 26"/>
          <p:cNvSpPr/>
          <p:nvPr/>
        </p:nvSpPr>
        <p:spPr>
          <a:xfrm>
            <a:off x="5468112" y="3604432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31" name="Text 27"/>
          <p:cNvSpPr/>
          <p:nvPr/>
        </p:nvSpPr>
        <p:spPr>
          <a:xfrm>
            <a:off x="896112" y="3527089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תורים להיום,</a:t>
            </a:r>
            <a:r>
              <a:rPr lang="he-IL" sz="145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 עתידיים ומבוטלים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5468112" y="4015912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33" name="Text 29"/>
          <p:cNvSpPr/>
          <p:nvPr/>
        </p:nvSpPr>
        <p:spPr>
          <a:xfrm>
            <a:off x="896112" y="3938569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ניהול רשימת הלקוחות</a:t>
            </a:r>
            <a:endParaRPr lang="en-US" sz="1450" dirty="0"/>
          </a:p>
        </p:txBody>
      </p:sp>
      <p:sp>
        <p:nvSpPr>
          <p:cNvPr id="34" name="Shape 30"/>
          <p:cNvSpPr/>
          <p:nvPr/>
        </p:nvSpPr>
        <p:spPr>
          <a:xfrm>
            <a:off x="5468112" y="4427392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35" name="Text 31"/>
          <p:cNvSpPr/>
          <p:nvPr/>
        </p:nvSpPr>
        <p:spPr>
          <a:xfrm>
            <a:off x="896112" y="4350049"/>
            <a:ext cx="4443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חסימת ימים</a:t>
            </a:r>
            <a:r>
              <a:rPr lang="he-IL" sz="1450" dirty="0">
                <a:solidFill>
                  <a:srgbClr val="E8E4DC"/>
                </a:solidFill>
                <a:ea typeface="Arial" pitchFamily="34" charset="-122"/>
                <a:cs typeface="Arial" pitchFamily="34" charset="-120"/>
              </a:rPr>
              <a:t>, טווחי תאריכים ושעות</a:t>
            </a:r>
            <a:endParaRPr lang="en-US" sz="1450" dirty="0"/>
          </a:p>
        </p:txBody>
      </p:sp>
      <p:sp>
        <p:nvSpPr>
          <p:cNvPr id="36" name="Shape 32"/>
          <p:cNvSpPr/>
          <p:nvPr/>
        </p:nvSpPr>
        <p:spPr>
          <a:xfrm>
            <a:off x="6291072" y="5138928"/>
            <a:ext cx="5349240" cy="1133856"/>
          </a:xfrm>
          <a:prstGeom prst="roundRect">
            <a:avLst>
              <a:gd name="adj" fmla="val 9677"/>
            </a:avLst>
          </a:prstGeom>
          <a:solidFill>
            <a:srgbClr val="EFE4CE"/>
          </a:solidFill>
          <a:ln/>
        </p:spPr>
      </p:sp>
      <p:sp>
        <p:nvSpPr>
          <p:cNvPr id="37" name="Shape 33"/>
          <p:cNvSpPr/>
          <p:nvPr/>
        </p:nvSpPr>
        <p:spPr>
          <a:xfrm>
            <a:off x="10799064" y="5449824"/>
            <a:ext cx="512064" cy="512064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38" name="Image 2" descr="/home/claude/deck/icons/check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6224" y="5586984"/>
            <a:ext cx="237744" cy="23774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611112" y="532180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he-IL" sz="1400" b="1" dirty="0">
              <a:solidFill>
                <a:srgbClr val="6B5426"/>
              </a:solidFill>
              <a:ea typeface="Arial" pitchFamily="34" charset="-122"/>
              <a:cs typeface="Arial" pitchFamily="34" charset="-120"/>
            </a:endParaRPr>
          </a:p>
        </p:txBody>
      </p:sp>
      <p:sp>
        <p:nvSpPr>
          <p:cNvPr id="40" name="Shape 35"/>
          <p:cNvSpPr/>
          <p:nvPr/>
        </p:nvSpPr>
        <p:spPr>
          <a:xfrm>
            <a:off x="548640" y="5138928"/>
            <a:ext cx="5349240" cy="1133856"/>
          </a:xfrm>
          <a:prstGeom prst="roundRect">
            <a:avLst>
              <a:gd name="adj" fmla="val 9677"/>
            </a:avLst>
          </a:prstGeom>
          <a:solidFill>
            <a:srgbClr val="EDE7DD"/>
          </a:solidFill>
          <a:ln w="12700">
            <a:solidFill>
              <a:srgbClr val="CFC6B8"/>
            </a:solidFill>
            <a:prstDash val="dash"/>
          </a:ln>
        </p:spPr>
      </p:sp>
      <p:pic>
        <p:nvPicPr>
          <p:cNvPr id="41" name="Image 3" descr="/home/claude/deck/icons/image_mu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522976"/>
            <a:ext cx="365760" cy="36576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417320" y="53218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6B7280"/>
                </a:solidFill>
                <a:ea typeface="Arial" pitchFamily="34" charset="-122"/>
                <a:cs typeface="Arial" pitchFamily="34" charset="-120"/>
              </a:rPr>
              <a:t>כאן להכניס צילום מסך מהמערכת</a:t>
            </a:r>
            <a:endParaRPr lang="en-US" sz="13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350826B-80A0-B9E4-C544-EFFDCC7F01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4932806"/>
            <a:ext cx="5481440" cy="17957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4F916E2-A57A-04BA-E989-2C1C5BE456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962428"/>
            <a:ext cx="5481440" cy="17661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68396" y="338328"/>
            <a:ext cx="6016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500" b="1" dirty="0">
                <a:solidFill>
                  <a:srgbClr val="F5F1EA"/>
                </a:solidFill>
                <a:latin typeface="Arial" pitchFamily="34" charset="0"/>
                <a:cs typeface="Arial" pitchFamily="34" charset="-120"/>
              </a:rPr>
              <a:t>תהליך עבודה ב- </a:t>
            </a:r>
            <a:r>
              <a:rPr lang="en-US" sz="3500" b="1" dirty="0">
                <a:solidFill>
                  <a:srgbClr val="F5F1EA"/>
                </a:solidFill>
                <a:latin typeface="Arial" pitchFamily="34" charset="0"/>
                <a:cs typeface="Arial" pitchFamily="34" charset="-120"/>
              </a:rPr>
              <a:t>Vibe Coding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3322320" y="978408"/>
            <a:ext cx="5544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1400" b="1" dirty="0">
                <a:solidFill>
                  <a:srgbClr val="C5A25B"/>
                </a:solidFill>
                <a:ea typeface="Arial" pitchFamily="34" charset="-122"/>
                <a:cs typeface="Arial" pitchFamily="34" charset="-120"/>
              </a:rPr>
              <a:t>תכנון לפי קוד |</a:t>
            </a:r>
            <a:r>
              <a:rPr lang="en-US" sz="1400" b="1" dirty="0">
                <a:solidFill>
                  <a:srgbClr val="C5A25B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he-IL" sz="1400" b="1" dirty="0">
                <a:solidFill>
                  <a:srgbClr val="C5A25B"/>
                </a:solidFill>
                <a:ea typeface="Arial" pitchFamily="34" charset="-122"/>
                <a:cs typeface="Arial" pitchFamily="34" charset="-120"/>
              </a:rPr>
              <a:t>תיעוד כל לוגיקת עבודה | תיעוד בדיקות | דגשים לכל תפקיד</a:t>
            </a:r>
          </a:p>
          <a:p>
            <a:pPr marL="0" indent="0" algn="r" rtl="1">
              <a:buNone/>
            </a:pP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602468" y="1572768"/>
            <a:ext cx="475488" cy="475488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5" name="Text 3"/>
          <p:cNvSpPr/>
          <p:nvPr/>
        </p:nvSpPr>
        <p:spPr>
          <a:xfrm>
            <a:off x="10602468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99548" y="213969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בעיה אמיתית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020556" y="1572768"/>
            <a:ext cx="475488" cy="475488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8" name="Text 6"/>
          <p:cNvSpPr/>
          <p:nvPr/>
        </p:nvSpPr>
        <p:spPr>
          <a:xfrm>
            <a:off x="9020556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17636" y="213969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כתיבת PRD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38644" y="1572768"/>
            <a:ext cx="475488" cy="475488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11" name="Text 9"/>
          <p:cNvSpPr/>
          <p:nvPr/>
        </p:nvSpPr>
        <p:spPr>
          <a:xfrm>
            <a:off x="7438644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35724" y="213969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חלוקת תפקידים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6732" y="1572768"/>
            <a:ext cx="475488" cy="475488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14" name="Text 12"/>
          <p:cNvSpPr/>
          <p:nvPr/>
        </p:nvSpPr>
        <p:spPr>
          <a:xfrm>
            <a:off x="5856732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53812" y="213969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MVP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74820" y="1572768"/>
            <a:ext cx="475488" cy="475488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17" name="Text 15"/>
          <p:cNvSpPr/>
          <p:nvPr/>
        </p:nvSpPr>
        <p:spPr>
          <a:xfrm>
            <a:off x="4274820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71900" y="213969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ושיפורים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92908" y="1572768"/>
            <a:ext cx="475488" cy="475488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20" name="Text 18"/>
          <p:cNvSpPr/>
          <p:nvPr/>
        </p:nvSpPr>
        <p:spPr>
          <a:xfrm>
            <a:off x="2692908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89988" y="213969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תיעוד החלטות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10996" y="1572768"/>
            <a:ext cx="475488" cy="475488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23" name="Text 21"/>
          <p:cNvSpPr/>
          <p:nvPr/>
        </p:nvSpPr>
        <p:spPr>
          <a:xfrm>
            <a:off x="1110996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8076" y="2139696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הכנה להצגה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91072" y="301752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252C36"/>
          </a:solidFill>
          <a:ln w="12700">
            <a:solidFill>
              <a:srgbClr val="C9A96A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53928" y="3218688"/>
            <a:ext cx="512064" cy="512064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27" name="Image 0" descr="/home/claude/deck/icons/fold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944" y="3346704"/>
            <a:ext cx="256032" cy="25603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601968" y="32369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התיעוד שליווה כל שלב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601968" y="3730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VIBE_CODING/</a:t>
            </a:r>
            <a:endParaRPr lang="en-US" sz="1100" dirty="0"/>
          </a:p>
        </p:txBody>
      </p:sp>
      <p:pic>
        <p:nvPicPr>
          <p:cNvPr id="30" name="Image 1" descr="/home/claude/deck/icons/fileline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4114800"/>
            <a:ext cx="146304" cy="14630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686800" y="4059936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דרישות וAcceptance Criteria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6601968" y="40599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QueueLess_PRD.md</a:t>
            </a:r>
            <a:endParaRPr lang="en-US" sz="1000" dirty="0"/>
          </a:p>
        </p:txBody>
      </p:sp>
      <p:pic>
        <p:nvPicPr>
          <p:cNvPr id="33" name="Image 2" descr="/home/claude/deck/icons/fileline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4480560"/>
            <a:ext cx="146304" cy="14630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686800" y="4425696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נימוק לכל החלטת מוצר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6601968" y="44256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WORK_LOGIC.md</a:t>
            </a:r>
            <a:endParaRPr lang="en-US" sz="1000" dirty="0"/>
          </a:p>
        </p:txBody>
      </p:sp>
      <p:pic>
        <p:nvPicPr>
          <p:cNvPr id="36" name="Image 3" descr="/home/claude/deck/icons/fileline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4846320"/>
            <a:ext cx="146304" cy="14630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686800" y="4791456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תרחישי בדיקה מול הדרישות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6601968" y="47914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TESTING.md</a:t>
            </a:r>
            <a:endParaRPr lang="en-US" sz="1000" dirty="0"/>
          </a:p>
        </p:txBody>
      </p:sp>
      <p:pic>
        <p:nvPicPr>
          <p:cNvPr id="39" name="Image 4" descr="/home/claude/deck/icons/fileline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5212080"/>
            <a:ext cx="146304" cy="14630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686800" y="5157216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בנייה מובנה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6601968" y="51572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CLAUDE_BUILD_PROMPT.md</a:t>
            </a:r>
            <a:endParaRPr lang="en-US" sz="1000" dirty="0"/>
          </a:p>
        </p:txBody>
      </p:sp>
      <p:pic>
        <p:nvPicPr>
          <p:cNvPr id="42" name="Image 5" descr="/home/claude/deck/icons/fileline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5577840"/>
            <a:ext cx="146304" cy="14630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8686800" y="5522976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הוראות הרצה ופרטי דמו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6601968" y="55229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000" dirty="0"/>
          </a:p>
        </p:txBody>
      </p:sp>
      <p:pic>
        <p:nvPicPr>
          <p:cNvPr id="45" name="Image 6" descr="/home/claude/deck/icons/fileline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5943600"/>
            <a:ext cx="146304" cy="14630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686800" y="5888736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דגשים לכל תפקיד בצוות</a:t>
            </a:r>
            <a:endParaRPr lang="en-US" sz="1150" dirty="0"/>
          </a:p>
        </p:txBody>
      </p:sp>
      <p:sp>
        <p:nvSpPr>
          <p:cNvPr id="47" name="Text 38"/>
          <p:cNvSpPr/>
          <p:nvPr/>
        </p:nvSpPr>
        <p:spPr>
          <a:xfrm>
            <a:off x="6601968" y="58887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Name.md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548640" y="301752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252C36"/>
          </a:solidFill>
          <a:ln/>
        </p:spPr>
      </p:sp>
      <p:sp>
        <p:nvSpPr>
          <p:cNvPr id="49" name="Shape 40"/>
          <p:cNvSpPr/>
          <p:nvPr/>
        </p:nvSpPr>
        <p:spPr>
          <a:xfrm>
            <a:off x="5111496" y="3218688"/>
            <a:ext cx="512064" cy="512064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50" name="Image 7" descr="/home/claude/deck/icons/lightbulb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656" y="3355848"/>
            <a:ext cx="237744" cy="237744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859536" y="32369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מוצר מרכזיות</a:t>
            </a:r>
            <a:endParaRPr lang="en-US" sz="1700" dirty="0"/>
          </a:p>
        </p:txBody>
      </p:sp>
      <p:sp>
        <p:nvSpPr>
          <p:cNvPr id="52" name="Text 42"/>
          <p:cNvSpPr/>
          <p:nvPr/>
        </p:nvSpPr>
        <p:spPr>
          <a:xfrm>
            <a:off x="859536" y="37307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החלטה נבחנה</a:t>
            </a:r>
            <a:r>
              <a:rPr lang="he-IL" sz="11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נבחרה ותועדה</a:t>
            </a:r>
            <a:endParaRPr lang="en-US" sz="1100" dirty="0"/>
          </a:p>
        </p:txBody>
      </p:sp>
      <p:sp>
        <p:nvSpPr>
          <p:cNvPr id="53" name="Shape 43"/>
          <p:cNvSpPr/>
          <p:nvPr/>
        </p:nvSpPr>
        <p:spPr>
          <a:xfrm>
            <a:off x="5513832" y="4126611"/>
            <a:ext cx="73152" cy="73152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54" name="Text 44"/>
          <p:cNvSpPr/>
          <p:nvPr/>
        </p:nvSpPr>
        <p:spPr>
          <a:xfrm>
            <a:off x="859536" y="40599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00"/>
              </a:lnSpc>
              <a:buNone/>
            </a:pPr>
            <a:r>
              <a:rPr lang="he-IL" sz="1250" dirty="0">
                <a:solidFill>
                  <a:srgbClr val="E8E4DC"/>
                </a:solidFill>
                <a:latin typeface="Arial" pitchFamily="34" charset="0"/>
                <a:cs typeface="Arial" pitchFamily="34" charset="-120"/>
              </a:rPr>
              <a:t>מספרה אחת בלבד, בלי להתפזר לעסקים שונים</a:t>
            </a:r>
            <a:endParaRPr lang="en-US" sz="1250" dirty="0"/>
          </a:p>
        </p:txBody>
      </p:sp>
      <p:sp>
        <p:nvSpPr>
          <p:cNvPr id="55" name="Shape 45"/>
          <p:cNvSpPr/>
          <p:nvPr/>
        </p:nvSpPr>
        <p:spPr>
          <a:xfrm>
            <a:off x="5513832" y="4492371"/>
            <a:ext cx="73152" cy="73152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56" name="Text 46"/>
          <p:cNvSpPr/>
          <p:nvPr/>
        </p:nvSpPr>
        <p:spPr>
          <a:xfrm>
            <a:off x="859536" y="44256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</a:t>
            </a:r>
            <a:r>
              <a:rPr lang="he-IL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ולא </a:t>
            </a:r>
            <a:r>
              <a:rPr lang="en-US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r>
              <a:rPr lang="he-IL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חיצוני להימנעות מנקודת כשל</a:t>
            </a:r>
            <a:endParaRPr lang="en-US" sz="1250" dirty="0"/>
          </a:p>
        </p:txBody>
      </p:sp>
      <p:sp>
        <p:nvSpPr>
          <p:cNvPr id="57" name="Shape 47"/>
          <p:cNvSpPr/>
          <p:nvPr/>
        </p:nvSpPr>
        <p:spPr>
          <a:xfrm>
            <a:off x="5513832" y="4858131"/>
            <a:ext cx="73152" cy="73152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58" name="Text 48"/>
          <p:cNvSpPr/>
          <p:nvPr/>
        </p:nvSpPr>
        <p:spPr>
          <a:xfrm>
            <a:off x="859536" y="4791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</a:t>
            </a:r>
            <a:r>
              <a:rPr lang="he-IL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דמו בהרשמה וכניסה</a:t>
            </a:r>
            <a:endParaRPr lang="en-US" sz="1250" dirty="0"/>
          </a:p>
        </p:txBody>
      </p:sp>
      <p:sp>
        <p:nvSpPr>
          <p:cNvPr id="59" name="Shape 49"/>
          <p:cNvSpPr/>
          <p:nvPr/>
        </p:nvSpPr>
        <p:spPr>
          <a:xfrm>
            <a:off x="5513832" y="5223891"/>
            <a:ext cx="73152" cy="73152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60" name="Text 50"/>
          <p:cNvSpPr/>
          <p:nvPr/>
        </p:nvSpPr>
        <p:spPr>
          <a:xfrm>
            <a:off x="859536" y="51572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קשירת שם לתעודת זהות</a:t>
            </a:r>
            <a:endParaRPr lang="en-US" sz="1250" dirty="0"/>
          </a:p>
        </p:txBody>
      </p:sp>
      <p:sp>
        <p:nvSpPr>
          <p:cNvPr id="61" name="Shape 51"/>
          <p:cNvSpPr/>
          <p:nvPr/>
        </p:nvSpPr>
        <p:spPr>
          <a:xfrm>
            <a:off x="5513832" y="5589651"/>
            <a:ext cx="73152" cy="73152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62" name="Text 52"/>
          <p:cNvSpPr/>
          <p:nvPr/>
        </p:nvSpPr>
        <p:spPr>
          <a:xfrm>
            <a:off x="859536" y="55229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חסימת ימים</a:t>
            </a:r>
            <a:r>
              <a:rPr lang="he-IL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תאריכים ושעות</a:t>
            </a:r>
            <a:endParaRPr lang="en-US" sz="1250" dirty="0"/>
          </a:p>
        </p:txBody>
      </p:sp>
      <p:sp>
        <p:nvSpPr>
          <p:cNvPr id="63" name="Shape 53"/>
          <p:cNvSpPr/>
          <p:nvPr/>
        </p:nvSpPr>
        <p:spPr>
          <a:xfrm>
            <a:off x="5513832" y="5955411"/>
            <a:ext cx="73152" cy="73152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64" name="Text 54"/>
          <p:cNvSpPr/>
          <p:nvPr/>
        </p:nvSpPr>
        <p:spPr>
          <a:xfrm>
            <a:off x="859536" y="58887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600"/>
              </a:lnSpc>
              <a:buNone/>
            </a:pPr>
            <a:r>
              <a:rPr lang="he-IL" sz="1250" dirty="0">
                <a:solidFill>
                  <a:srgbClr val="E8E4DC"/>
                </a:solidFill>
                <a:latin typeface="Arial" pitchFamily="34" charset="0"/>
                <a:cs typeface="Arial" pitchFamily="34" charset="-120"/>
              </a:rPr>
              <a:t>מערכת פשוטה לתפעול משתמש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>
            <a:extLst>
              <a:ext uri="{FF2B5EF4-FFF2-40B4-BE49-F238E27FC236}">
                <a16:creationId xmlns:a16="http://schemas.microsoft.com/office/drawing/2014/main" id="{A2C2D987-8DB1-4C51-29BB-2CB0EB0C2044}"/>
              </a:ext>
            </a:extLst>
          </p:cNvPr>
          <p:cNvSpPr/>
          <p:nvPr/>
        </p:nvSpPr>
        <p:spPr>
          <a:xfrm>
            <a:off x="3164586" y="356616"/>
            <a:ext cx="56586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5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בעיות, מגבלות ואיך התמודדנו</a:t>
            </a:r>
            <a:endParaRPr lang="en-US" sz="3500" dirty="0"/>
          </a:p>
        </p:txBody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59CE2C30-73BC-25B3-4B53-550D9384F282}"/>
              </a:ext>
            </a:extLst>
          </p:cNvPr>
          <p:cNvSpPr/>
          <p:nvPr/>
        </p:nvSpPr>
        <p:spPr>
          <a:xfrm>
            <a:off x="4103370" y="1006221"/>
            <a:ext cx="37810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1400" b="1" dirty="0">
                <a:solidFill>
                  <a:srgbClr val="6B5426"/>
                </a:solidFill>
                <a:ea typeface="Arial" pitchFamily="34" charset="-122"/>
                <a:cs typeface="Arial" pitchFamily="34" charset="-120"/>
              </a:rPr>
              <a:t>כל תקלה שעלתה בפיתוח תועדה, נותחה ותוקנה</a:t>
            </a:r>
          </a:p>
          <a:p>
            <a:pPr marL="0" indent="0" algn="r" rtl="1">
              <a:buNone/>
            </a:pPr>
            <a:endParaRPr lang="en-US" sz="1450" dirty="0"/>
          </a:p>
        </p:txBody>
      </p:sp>
      <p:sp>
        <p:nvSpPr>
          <p:cNvPr id="65" name="Shape 2">
            <a:extLst>
              <a:ext uri="{FF2B5EF4-FFF2-40B4-BE49-F238E27FC236}">
                <a16:creationId xmlns:a16="http://schemas.microsoft.com/office/drawing/2014/main" id="{E5DC9108-4FDC-7408-9940-547776D55AD6}"/>
              </a:ext>
            </a:extLst>
          </p:cNvPr>
          <p:cNvSpPr/>
          <p:nvPr/>
        </p:nvSpPr>
        <p:spPr>
          <a:xfrm>
            <a:off x="8078724" y="1572768"/>
            <a:ext cx="3529584" cy="1426464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66" name="Shape 3">
            <a:extLst>
              <a:ext uri="{FF2B5EF4-FFF2-40B4-BE49-F238E27FC236}">
                <a16:creationId xmlns:a16="http://schemas.microsoft.com/office/drawing/2014/main" id="{66C71ED8-952D-6098-49F6-2ECFF0FC48EF}"/>
              </a:ext>
            </a:extLst>
          </p:cNvPr>
          <p:cNvSpPr/>
          <p:nvPr/>
        </p:nvSpPr>
        <p:spPr>
          <a:xfrm>
            <a:off x="10949940" y="1755648"/>
            <a:ext cx="420624" cy="420624"/>
          </a:xfrm>
          <a:prstGeom prst="ellipse">
            <a:avLst/>
          </a:prstGeom>
          <a:solidFill>
            <a:srgbClr val="EFE4CE"/>
          </a:solidFill>
          <a:ln/>
        </p:spPr>
      </p:sp>
      <p:pic>
        <p:nvPicPr>
          <p:cNvPr id="67" name="Image 0" descr="/home/claude/deck/icons/bug_dark.png">
            <a:extLst>
              <a:ext uri="{FF2B5EF4-FFF2-40B4-BE49-F238E27FC236}">
                <a16:creationId xmlns:a16="http://schemas.microsoft.com/office/drawing/2014/main" id="{39CE8A39-BDB0-EFA8-81C9-5F5EB0107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668" y="1865376"/>
            <a:ext cx="201168" cy="201168"/>
          </a:xfrm>
          <a:prstGeom prst="rect">
            <a:avLst/>
          </a:prstGeom>
        </p:spPr>
      </p:pic>
      <p:sp>
        <p:nvSpPr>
          <p:cNvPr id="68" name="Text 4">
            <a:extLst>
              <a:ext uri="{FF2B5EF4-FFF2-40B4-BE49-F238E27FC236}">
                <a16:creationId xmlns:a16="http://schemas.microsoft.com/office/drawing/2014/main" id="{A98416DE-6658-8933-C47D-8B752D3D4C73}"/>
              </a:ext>
            </a:extLst>
          </p:cNvPr>
          <p:cNvSpPr/>
          <p:nvPr/>
        </p:nvSpPr>
        <p:spPr>
          <a:xfrm>
            <a:off x="8316468" y="17556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דף לבן בהרצה הראשונה</a:t>
            </a:r>
            <a:endParaRPr lang="en-US" sz="1300" dirty="0"/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8DE29BC6-A8BC-0D5C-24DA-9B8D8B962E0C}"/>
              </a:ext>
            </a:extLst>
          </p:cNvPr>
          <p:cNvSpPr/>
          <p:nvPr/>
        </p:nvSpPr>
        <p:spPr>
          <a:xfrm>
            <a:off x="8316468" y="2231136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התלות בספריות </a:t>
            </a:r>
            <a:r>
              <a:rPr lang="he-IL" sz="1100" dirty="0">
                <a:ea typeface="Arial" pitchFamily="34" charset="-122"/>
                <a:cs typeface="Arial" pitchFamily="34" charset="-120"/>
              </a:rPr>
              <a:t>חיצוניות 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שברה את האפליקציה. כתבנו מחדש כקובץ יחיד ללא תלויות</a:t>
            </a:r>
            <a:r>
              <a:rPr lang="he-IL" sz="1100" dirty="0"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70" name="Shape 6">
            <a:extLst>
              <a:ext uri="{FF2B5EF4-FFF2-40B4-BE49-F238E27FC236}">
                <a16:creationId xmlns:a16="http://schemas.microsoft.com/office/drawing/2014/main" id="{A5FABDD1-2F1B-4256-5738-1DB6EA575504}"/>
              </a:ext>
            </a:extLst>
          </p:cNvPr>
          <p:cNvSpPr/>
          <p:nvPr/>
        </p:nvSpPr>
        <p:spPr>
          <a:xfrm>
            <a:off x="4329684" y="1572768"/>
            <a:ext cx="3529584" cy="1426464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71" name="Shape 7">
            <a:extLst>
              <a:ext uri="{FF2B5EF4-FFF2-40B4-BE49-F238E27FC236}">
                <a16:creationId xmlns:a16="http://schemas.microsoft.com/office/drawing/2014/main" id="{EDAEF2CA-6EED-F9BD-8D4D-BA0477335866}"/>
              </a:ext>
            </a:extLst>
          </p:cNvPr>
          <p:cNvSpPr/>
          <p:nvPr/>
        </p:nvSpPr>
        <p:spPr>
          <a:xfrm>
            <a:off x="7200900" y="1755648"/>
            <a:ext cx="420624" cy="420624"/>
          </a:xfrm>
          <a:prstGeom prst="ellipse">
            <a:avLst/>
          </a:prstGeom>
          <a:solidFill>
            <a:srgbClr val="EFE4CE"/>
          </a:solidFill>
          <a:ln/>
        </p:spPr>
      </p:sp>
      <p:pic>
        <p:nvPicPr>
          <p:cNvPr id="72" name="Image 1" descr="/home/claude/deck/icons/clock2_dark.png">
            <a:extLst>
              <a:ext uri="{FF2B5EF4-FFF2-40B4-BE49-F238E27FC236}">
                <a16:creationId xmlns:a16="http://schemas.microsoft.com/office/drawing/2014/main" id="{6FFF74D9-C763-05B7-2AAA-AAE8B49D7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628" y="1865376"/>
            <a:ext cx="201168" cy="201168"/>
          </a:xfrm>
          <a:prstGeom prst="rect">
            <a:avLst/>
          </a:prstGeom>
        </p:spPr>
      </p:pic>
      <p:sp>
        <p:nvSpPr>
          <p:cNvPr id="73" name="Text 8">
            <a:extLst>
              <a:ext uri="{FF2B5EF4-FFF2-40B4-BE49-F238E27FC236}">
                <a16:creationId xmlns:a16="http://schemas.microsoft.com/office/drawing/2014/main" id="{02374618-A99B-247E-2165-F163970DC338}"/>
              </a:ext>
            </a:extLst>
          </p:cNvPr>
          <p:cNvSpPr/>
          <p:nvPr/>
        </p:nvSpPr>
        <p:spPr>
          <a:xfrm>
            <a:off x="4567428" y="17556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שעה תפוסה הוצגה כפנויה</a:t>
            </a:r>
            <a:endParaRPr lang="en-US" sz="1300" dirty="0"/>
          </a:p>
        </p:txBody>
      </p:sp>
      <p:sp>
        <p:nvSpPr>
          <p:cNvPr id="74" name="Text 9">
            <a:extLst>
              <a:ext uri="{FF2B5EF4-FFF2-40B4-BE49-F238E27FC236}">
                <a16:creationId xmlns:a16="http://schemas.microsoft.com/office/drawing/2014/main" id="{B8AC51D3-9726-40C9-828F-8DEE145316E2}"/>
              </a:ext>
            </a:extLst>
          </p:cNvPr>
          <p:cNvSpPr/>
          <p:nvPr/>
        </p:nvSpPr>
        <p:spPr>
          <a:xfrm>
            <a:off x="4567428" y="2231136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תור שממתין לאישור לא נעל את השעה</a:t>
            </a:r>
            <a:r>
              <a:rPr lang="he-IL" sz="1100" dirty="0">
                <a:ea typeface="Arial" pitchFamily="34" charset="-122"/>
                <a:cs typeface="Arial" pitchFamily="34" charset="-120"/>
              </a:rPr>
              <a:t> והיה זמין לעוד משתמשים. 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עברנו לנעילה מיידית ברגע ההזמנה</a:t>
            </a:r>
            <a:endParaRPr lang="en-US" sz="1100" dirty="0"/>
          </a:p>
        </p:txBody>
      </p:sp>
      <p:sp>
        <p:nvSpPr>
          <p:cNvPr id="75" name="Shape 10">
            <a:extLst>
              <a:ext uri="{FF2B5EF4-FFF2-40B4-BE49-F238E27FC236}">
                <a16:creationId xmlns:a16="http://schemas.microsoft.com/office/drawing/2014/main" id="{208E1D29-AE65-FF80-A4B0-B5C73571E26F}"/>
              </a:ext>
            </a:extLst>
          </p:cNvPr>
          <p:cNvSpPr/>
          <p:nvPr/>
        </p:nvSpPr>
        <p:spPr>
          <a:xfrm>
            <a:off x="580644" y="1572768"/>
            <a:ext cx="3529584" cy="1426464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76" name="Shape 11">
            <a:extLst>
              <a:ext uri="{FF2B5EF4-FFF2-40B4-BE49-F238E27FC236}">
                <a16:creationId xmlns:a16="http://schemas.microsoft.com/office/drawing/2014/main" id="{65A443B5-F281-0FD3-BB18-3889C79CBB5C}"/>
              </a:ext>
            </a:extLst>
          </p:cNvPr>
          <p:cNvSpPr/>
          <p:nvPr/>
        </p:nvSpPr>
        <p:spPr>
          <a:xfrm>
            <a:off x="3451860" y="1755648"/>
            <a:ext cx="420624" cy="420624"/>
          </a:xfrm>
          <a:prstGeom prst="ellipse">
            <a:avLst/>
          </a:prstGeom>
          <a:solidFill>
            <a:srgbClr val="EFE4CE"/>
          </a:solidFill>
          <a:ln/>
        </p:spPr>
      </p:sp>
      <p:pic>
        <p:nvPicPr>
          <p:cNvPr id="77" name="Image 2" descr="/home/claude/deck/icons/usershield_dark.png">
            <a:extLst>
              <a:ext uri="{FF2B5EF4-FFF2-40B4-BE49-F238E27FC236}">
                <a16:creationId xmlns:a16="http://schemas.microsoft.com/office/drawing/2014/main" id="{7F72ABBC-5FEF-EA8F-445C-CDC7573D5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588" y="1865376"/>
            <a:ext cx="201168" cy="201168"/>
          </a:xfrm>
          <a:prstGeom prst="rect">
            <a:avLst/>
          </a:prstGeom>
        </p:spPr>
      </p:pic>
      <p:sp>
        <p:nvSpPr>
          <p:cNvPr id="78" name="Text 12">
            <a:extLst>
              <a:ext uri="{FF2B5EF4-FFF2-40B4-BE49-F238E27FC236}">
                <a16:creationId xmlns:a16="http://schemas.microsoft.com/office/drawing/2014/main" id="{102B6996-8EFA-28F8-DE73-5A4BDF9E15CE}"/>
              </a:ext>
            </a:extLst>
          </p:cNvPr>
          <p:cNvSpPr/>
          <p:nvPr/>
        </p:nvSpPr>
        <p:spPr>
          <a:xfrm>
            <a:off x="818388" y="17556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אפשר היה להתחזות ללקוח</a:t>
            </a:r>
            <a:endParaRPr lang="en-US" sz="1300" dirty="0"/>
          </a:p>
        </p:txBody>
      </p:sp>
      <p:sp>
        <p:nvSpPr>
          <p:cNvPr id="79" name="Text 13">
            <a:extLst>
              <a:ext uri="{FF2B5EF4-FFF2-40B4-BE49-F238E27FC236}">
                <a16:creationId xmlns:a16="http://schemas.microsoft.com/office/drawing/2014/main" id="{6C74E06B-15D9-242F-D2EA-4BD3EDEEA828}"/>
              </a:ext>
            </a:extLst>
          </p:cNvPr>
          <p:cNvSpPr/>
          <p:nvPr/>
        </p:nvSpPr>
        <p:spPr>
          <a:xfrm>
            <a:off x="818388" y="2231136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החלפנו את לקוחות הדמו הקבועים בהרשמה מלאה עם קשירת שם לתעודת זהות</a:t>
            </a:r>
            <a:r>
              <a:rPr lang="he-IL" sz="1100" dirty="0">
                <a:ea typeface="Arial" pitchFamily="34" charset="-122"/>
                <a:cs typeface="Arial" pitchFamily="34" charset="-120"/>
              </a:rPr>
              <a:t> כדי למנוע כפילות.</a:t>
            </a:r>
            <a:endParaRPr lang="en-US" sz="1100" dirty="0"/>
          </a:p>
        </p:txBody>
      </p:sp>
      <p:sp>
        <p:nvSpPr>
          <p:cNvPr id="80" name="Shape 14">
            <a:extLst>
              <a:ext uri="{FF2B5EF4-FFF2-40B4-BE49-F238E27FC236}">
                <a16:creationId xmlns:a16="http://schemas.microsoft.com/office/drawing/2014/main" id="{EB7BBF08-A32B-0D2A-5251-AC0BD344FE50}"/>
              </a:ext>
            </a:extLst>
          </p:cNvPr>
          <p:cNvSpPr/>
          <p:nvPr/>
        </p:nvSpPr>
        <p:spPr>
          <a:xfrm>
            <a:off x="8078724" y="3182112"/>
            <a:ext cx="3529584" cy="1426464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81" name="Shape 15">
            <a:extLst>
              <a:ext uri="{FF2B5EF4-FFF2-40B4-BE49-F238E27FC236}">
                <a16:creationId xmlns:a16="http://schemas.microsoft.com/office/drawing/2014/main" id="{855948BC-A743-E5D9-BB68-FBEB20D04519}"/>
              </a:ext>
            </a:extLst>
          </p:cNvPr>
          <p:cNvSpPr/>
          <p:nvPr/>
        </p:nvSpPr>
        <p:spPr>
          <a:xfrm>
            <a:off x="10949940" y="3364992"/>
            <a:ext cx="420624" cy="420624"/>
          </a:xfrm>
          <a:prstGeom prst="ellipse">
            <a:avLst/>
          </a:prstGeom>
          <a:solidFill>
            <a:srgbClr val="EFE4CE"/>
          </a:solidFill>
          <a:ln/>
        </p:spPr>
      </p:sp>
      <p:pic>
        <p:nvPicPr>
          <p:cNvPr id="82" name="Image 3" descr="/home/claude/deck/icons/key_dark.png">
            <a:extLst>
              <a:ext uri="{FF2B5EF4-FFF2-40B4-BE49-F238E27FC236}">
                <a16:creationId xmlns:a16="http://schemas.microsoft.com/office/drawing/2014/main" id="{914936F9-0D76-DBB4-DFC6-D04116282A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9668" y="3474720"/>
            <a:ext cx="201168" cy="201168"/>
          </a:xfrm>
          <a:prstGeom prst="rect">
            <a:avLst/>
          </a:prstGeom>
        </p:spPr>
      </p:pic>
      <p:sp>
        <p:nvSpPr>
          <p:cNvPr id="83" name="Text 16">
            <a:extLst>
              <a:ext uri="{FF2B5EF4-FFF2-40B4-BE49-F238E27FC236}">
                <a16:creationId xmlns:a16="http://schemas.microsoft.com/office/drawing/2014/main" id="{A4F1777E-588F-9673-FF56-64B4EB802A77}"/>
              </a:ext>
            </a:extLst>
          </p:cNvPr>
          <p:cNvSpPr/>
          <p:nvPr/>
        </p:nvSpPr>
        <p:spPr>
          <a:xfrm>
            <a:off x="8316468" y="336499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אימות חלש מדי בכניסה</a:t>
            </a:r>
            <a:endParaRPr lang="en-US" sz="1300" dirty="0"/>
          </a:p>
        </p:txBody>
      </p:sp>
      <p:sp>
        <p:nvSpPr>
          <p:cNvPr id="84" name="Text 17">
            <a:extLst>
              <a:ext uri="{FF2B5EF4-FFF2-40B4-BE49-F238E27FC236}">
                <a16:creationId xmlns:a16="http://schemas.microsoft.com/office/drawing/2014/main" id="{229B411E-B072-5D05-7723-F972798C73FD}"/>
              </a:ext>
            </a:extLst>
          </p:cNvPr>
          <p:cNvSpPr/>
          <p:nvPr/>
        </p:nvSpPr>
        <p:spPr>
          <a:xfrm>
            <a:off x="8316468" y="3840480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הוספנו סיסמה אישית </a:t>
            </a:r>
            <a:r>
              <a:rPr lang="he-IL" sz="1100" dirty="0">
                <a:ea typeface="Arial" pitchFamily="34" charset="-122"/>
                <a:cs typeface="Arial" pitchFamily="34" charset="-120"/>
              </a:rPr>
              <a:t>ומסך 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OTP</a:t>
            </a:r>
            <a:r>
              <a:rPr lang="he-IL" sz="1100" dirty="0"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שחוסם כניסה עד לאימות הקוד</a:t>
            </a:r>
            <a:r>
              <a:rPr lang="he-IL" sz="1100" dirty="0"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85" name="Shape 18">
            <a:extLst>
              <a:ext uri="{FF2B5EF4-FFF2-40B4-BE49-F238E27FC236}">
                <a16:creationId xmlns:a16="http://schemas.microsoft.com/office/drawing/2014/main" id="{551F9A4F-80DA-080C-D791-F731542DD48B}"/>
              </a:ext>
            </a:extLst>
          </p:cNvPr>
          <p:cNvSpPr/>
          <p:nvPr/>
        </p:nvSpPr>
        <p:spPr>
          <a:xfrm>
            <a:off x="4329684" y="3182112"/>
            <a:ext cx="3529584" cy="1426464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86" name="Shape 19">
            <a:extLst>
              <a:ext uri="{FF2B5EF4-FFF2-40B4-BE49-F238E27FC236}">
                <a16:creationId xmlns:a16="http://schemas.microsoft.com/office/drawing/2014/main" id="{C6530493-7435-50BE-8201-96FA0EBA935E}"/>
              </a:ext>
            </a:extLst>
          </p:cNvPr>
          <p:cNvSpPr/>
          <p:nvPr/>
        </p:nvSpPr>
        <p:spPr>
          <a:xfrm>
            <a:off x="7200900" y="3364992"/>
            <a:ext cx="420624" cy="420624"/>
          </a:xfrm>
          <a:prstGeom prst="ellipse">
            <a:avLst/>
          </a:prstGeom>
          <a:solidFill>
            <a:srgbClr val="EFE4CE"/>
          </a:solidFill>
          <a:ln/>
        </p:spPr>
      </p:sp>
      <p:pic>
        <p:nvPicPr>
          <p:cNvPr id="87" name="Image 4" descr="/home/claude/deck/icons/calrange_dark.png">
            <a:extLst>
              <a:ext uri="{FF2B5EF4-FFF2-40B4-BE49-F238E27FC236}">
                <a16:creationId xmlns:a16="http://schemas.microsoft.com/office/drawing/2014/main" id="{DF279151-CE21-44CB-97C0-1074A89413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0628" y="3474720"/>
            <a:ext cx="201168" cy="201168"/>
          </a:xfrm>
          <a:prstGeom prst="rect">
            <a:avLst/>
          </a:prstGeom>
        </p:spPr>
      </p:pic>
      <p:sp>
        <p:nvSpPr>
          <p:cNvPr id="88" name="Text 20">
            <a:extLst>
              <a:ext uri="{FF2B5EF4-FFF2-40B4-BE49-F238E27FC236}">
                <a16:creationId xmlns:a16="http://schemas.microsoft.com/office/drawing/2014/main" id="{4D5E4361-BF1E-5FAF-2131-785265812D3F}"/>
              </a:ext>
            </a:extLst>
          </p:cNvPr>
          <p:cNvSpPr/>
          <p:nvPr/>
        </p:nvSpPr>
        <p:spPr>
          <a:xfrm>
            <a:off x="4567428" y="336499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חסימת חופשה הייתה ידנית</a:t>
            </a:r>
            <a:endParaRPr lang="en-US" sz="1300" dirty="0"/>
          </a:p>
        </p:txBody>
      </p:sp>
      <p:sp>
        <p:nvSpPr>
          <p:cNvPr id="89" name="Text 21">
            <a:extLst>
              <a:ext uri="{FF2B5EF4-FFF2-40B4-BE49-F238E27FC236}">
                <a16:creationId xmlns:a16="http://schemas.microsoft.com/office/drawing/2014/main" id="{DBCA3869-A72C-078E-D673-1CCA1FDEB47C}"/>
              </a:ext>
            </a:extLst>
          </p:cNvPr>
          <p:cNvSpPr/>
          <p:nvPr/>
        </p:nvSpPr>
        <p:spPr>
          <a:xfrm>
            <a:off x="4567428" y="3840480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היה אפשר לחסום יום בודד בלבד</a:t>
            </a:r>
            <a:r>
              <a:rPr lang="he-IL" sz="1100" dirty="0">
                <a:ea typeface="Arial" pitchFamily="34" charset="-122"/>
                <a:cs typeface="Arial" pitchFamily="34" charset="-120"/>
              </a:rPr>
              <a:t>. </a:t>
            </a:r>
            <a:r>
              <a:rPr lang="en-US" sz="1100" dirty="0">
                <a:ea typeface="Arial" pitchFamily="34" charset="-122"/>
                <a:cs typeface="Arial" pitchFamily="34" charset="-120"/>
              </a:rPr>
              <a:t>הוספנו חסימת טווחי תאריכים ושעות</a:t>
            </a:r>
            <a:endParaRPr lang="en-US" sz="1100" dirty="0"/>
          </a:p>
        </p:txBody>
      </p:sp>
      <p:sp>
        <p:nvSpPr>
          <p:cNvPr id="90" name="Shape 22">
            <a:extLst>
              <a:ext uri="{FF2B5EF4-FFF2-40B4-BE49-F238E27FC236}">
                <a16:creationId xmlns:a16="http://schemas.microsoft.com/office/drawing/2014/main" id="{C2AD13F1-CABC-100C-EE8E-E612F0851BB4}"/>
              </a:ext>
            </a:extLst>
          </p:cNvPr>
          <p:cNvSpPr/>
          <p:nvPr/>
        </p:nvSpPr>
        <p:spPr>
          <a:xfrm>
            <a:off x="580644" y="3182112"/>
            <a:ext cx="3529584" cy="1426464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91" name="Shape 23">
            <a:extLst>
              <a:ext uri="{FF2B5EF4-FFF2-40B4-BE49-F238E27FC236}">
                <a16:creationId xmlns:a16="http://schemas.microsoft.com/office/drawing/2014/main" id="{250C6830-E816-D722-4589-C9A1F638DC78}"/>
              </a:ext>
            </a:extLst>
          </p:cNvPr>
          <p:cNvSpPr/>
          <p:nvPr/>
        </p:nvSpPr>
        <p:spPr>
          <a:xfrm>
            <a:off x="3451860" y="3364992"/>
            <a:ext cx="420624" cy="420624"/>
          </a:xfrm>
          <a:prstGeom prst="ellipse">
            <a:avLst/>
          </a:prstGeom>
          <a:solidFill>
            <a:srgbClr val="EFE4CE"/>
          </a:solidFill>
          <a:ln/>
        </p:spPr>
      </p:sp>
      <p:pic>
        <p:nvPicPr>
          <p:cNvPr id="92" name="Image 5" descr="/home/claude/deck/icons/bell_dark.png">
            <a:extLst>
              <a:ext uri="{FF2B5EF4-FFF2-40B4-BE49-F238E27FC236}">
                <a16:creationId xmlns:a16="http://schemas.microsoft.com/office/drawing/2014/main" id="{87181DCC-945C-29AA-72D4-F2974D924A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1588" y="3474720"/>
            <a:ext cx="201168" cy="201168"/>
          </a:xfrm>
          <a:prstGeom prst="rect">
            <a:avLst/>
          </a:prstGeom>
        </p:spPr>
      </p:pic>
      <p:sp>
        <p:nvSpPr>
          <p:cNvPr id="93" name="Text 24">
            <a:extLst>
              <a:ext uri="{FF2B5EF4-FFF2-40B4-BE49-F238E27FC236}">
                <a16:creationId xmlns:a16="http://schemas.microsoft.com/office/drawing/2014/main" id="{7C9CA75B-175D-AF9C-2BA2-D732FC65001A}"/>
              </a:ext>
            </a:extLst>
          </p:cNvPr>
          <p:cNvSpPr/>
          <p:nvPr/>
        </p:nvSpPr>
        <p:spPr>
          <a:xfrm>
            <a:off x="818388" y="336499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933"/>
                </a:solidFill>
                <a:ea typeface="Arial" pitchFamily="34" charset="-122"/>
                <a:cs typeface="Arial" pitchFamily="34" charset="-120"/>
              </a:rPr>
              <a:t>חסימה ביטלה תורים בשקט</a:t>
            </a:r>
            <a:endParaRPr lang="en-US" sz="1300" dirty="0"/>
          </a:p>
        </p:txBody>
      </p:sp>
      <p:sp>
        <p:nvSpPr>
          <p:cNvPr id="94" name="Text 25">
            <a:extLst>
              <a:ext uri="{FF2B5EF4-FFF2-40B4-BE49-F238E27FC236}">
                <a16:creationId xmlns:a16="http://schemas.microsoft.com/office/drawing/2014/main" id="{43884006-A04A-1829-8839-B7940ED03936}"/>
              </a:ext>
            </a:extLst>
          </p:cNvPr>
          <p:cNvSpPr/>
          <p:nvPr/>
        </p:nvSpPr>
        <p:spPr>
          <a:xfrm>
            <a:off x="818388" y="3840480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100" dirty="0">
                <a:ea typeface="Arial" pitchFamily="34" charset="-122"/>
                <a:cs typeface="Arial" pitchFamily="34" charset="-120"/>
              </a:rPr>
              <a:t>הוספנו אזהרה עם שם הלקוח ושעת התור לפני שהחסימה מבטלת אותו</a:t>
            </a:r>
            <a:endParaRPr lang="en-US" sz="1100" dirty="0"/>
          </a:p>
        </p:txBody>
      </p:sp>
      <p:sp>
        <p:nvSpPr>
          <p:cNvPr id="95" name="Shape 26">
            <a:extLst>
              <a:ext uri="{FF2B5EF4-FFF2-40B4-BE49-F238E27FC236}">
                <a16:creationId xmlns:a16="http://schemas.microsoft.com/office/drawing/2014/main" id="{FC3DABB6-87B1-9542-0918-2156AFA67798}"/>
              </a:ext>
            </a:extLst>
          </p:cNvPr>
          <p:cNvSpPr/>
          <p:nvPr/>
        </p:nvSpPr>
        <p:spPr>
          <a:xfrm>
            <a:off x="580644" y="4809744"/>
            <a:ext cx="11027664" cy="1426464"/>
          </a:xfrm>
          <a:prstGeom prst="roundRect">
            <a:avLst>
              <a:gd name="adj" fmla="val 7051"/>
            </a:avLst>
          </a:prstGeom>
          <a:solidFill>
            <a:srgbClr val="EFE4CE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96" name="Shape 27">
            <a:extLst>
              <a:ext uri="{FF2B5EF4-FFF2-40B4-BE49-F238E27FC236}">
                <a16:creationId xmlns:a16="http://schemas.microsoft.com/office/drawing/2014/main" id="{413FE7F7-385A-DB03-B9E8-28BB9FA83B26}"/>
              </a:ext>
            </a:extLst>
          </p:cNvPr>
          <p:cNvSpPr/>
          <p:nvPr/>
        </p:nvSpPr>
        <p:spPr>
          <a:xfrm>
            <a:off x="10895076" y="4992624"/>
            <a:ext cx="457200" cy="457200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97" name="Image 6" descr="/home/claude/deck/icons/scale_dark.png">
            <a:extLst>
              <a:ext uri="{FF2B5EF4-FFF2-40B4-BE49-F238E27FC236}">
                <a16:creationId xmlns:a16="http://schemas.microsoft.com/office/drawing/2014/main" id="{3B60A6AF-0972-BA53-B3C9-B86E59F1B9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3948" y="5111496"/>
            <a:ext cx="219456" cy="219456"/>
          </a:xfrm>
          <a:prstGeom prst="rect">
            <a:avLst/>
          </a:prstGeom>
        </p:spPr>
      </p:pic>
      <p:sp>
        <p:nvSpPr>
          <p:cNvPr id="98" name="Text 28">
            <a:extLst>
              <a:ext uri="{FF2B5EF4-FFF2-40B4-BE49-F238E27FC236}">
                <a16:creationId xmlns:a16="http://schemas.microsoft.com/office/drawing/2014/main" id="{9744CA72-1B85-5E1A-F576-08CDF2791194}"/>
              </a:ext>
            </a:extLst>
          </p:cNvPr>
          <p:cNvSpPr/>
          <p:nvPr/>
        </p:nvSpPr>
        <p:spPr>
          <a:xfrm>
            <a:off x="854964" y="4992624"/>
            <a:ext cx="9930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6B5426"/>
                </a:solidFill>
                <a:ea typeface="Arial" pitchFamily="34" charset="-122"/>
                <a:cs typeface="Arial" pitchFamily="34" charset="-120"/>
              </a:rPr>
              <a:t>מגבלות שהשארנו במודע ומתועדות ב</a:t>
            </a:r>
            <a:r>
              <a:rPr lang="he-IL" sz="1400" b="1" dirty="0">
                <a:solidFill>
                  <a:srgbClr val="6B5426"/>
                </a:solidFill>
                <a:ea typeface="Arial" pitchFamily="34" charset="-122"/>
                <a:cs typeface="Arial" pitchFamily="34" charset="-120"/>
              </a:rPr>
              <a:t>- </a:t>
            </a:r>
            <a:r>
              <a:rPr lang="en-US" sz="1400" b="1" dirty="0">
                <a:solidFill>
                  <a:srgbClr val="6B5426"/>
                </a:solidFill>
                <a:ea typeface="Arial" pitchFamily="34" charset="-122"/>
                <a:cs typeface="Arial" pitchFamily="34" charset="-120"/>
              </a:rPr>
              <a:t>Work_Logic.MD</a:t>
            </a:r>
            <a:endParaRPr lang="en-US" sz="1400" dirty="0"/>
          </a:p>
        </p:txBody>
      </p:sp>
      <p:sp>
        <p:nvSpPr>
          <p:cNvPr id="99" name="Shape 29">
            <a:extLst>
              <a:ext uri="{FF2B5EF4-FFF2-40B4-BE49-F238E27FC236}">
                <a16:creationId xmlns:a16="http://schemas.microsoft.com/office/drawing/2014/main" id="{B5DDF975-0877-C469-1D0C-055540FF53A1}"/>
              </a:ext>
            </a:extLst>
          </p:cNvPr>
          <p:cNvSpPr/>
          <p:nvPr/>
        </p:nvSpPr>
        <p:spPr>
          <a:xfrm>
            <a:off x="11361420" y="5669280"/>
            <a:ext cx="82296" cy="82296"/>
          </a:xfrm>
          <a:prstGeom prst="ellipse">
            <a:avLst/>
          </a:prstGeom>
          <a:solidFill>
            <a:srgbClr val="9C7C34"/>
          </a:solidFill>
          <a:ln/>
        </p:spPr>
      </p:sp>
      <p:sp>
        <p:nvSpPr>
          <p:cNvPr id="100" name="Text 30">
            <a:extLst>
              <a:ext uri="{FF2B5EF4-FFF2-40B4-BE49-F238E27FC236}">
                <a16:creationId xmlns:a16="http://schemas.microsoft.com/office/drawing/2014/main" id="{8ABC729F-0294-3BE9-1E9B-7F798105A916}"/>
              </a:ext>
            </a:extLst>
          </p:cNvPr>
          <p:cNvSpPr/>
          <p:nvPr/>
        </p:nvSpPr>
        <p:spPr>
          <a:xfrm>
            <a:off x="8060436" y="5559552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en-US" sz="1150" dirty="0">
                <a:solidFill>
                  <a:srgbClr val="6B5426"/>
                </a:solidFill>
                <a:ea typeface="Arial" pitchFamily="34" charset="-122"/>
                <a:cs typeface="Arial" pitchFamily="34" charset="-120"/>
              </a:rPr>
              <a:t>הנתונים נשמרים בדפדפן אחד בלבד ולא בענן</a:t>
            </a:r>
            <a:endParaRPr lang="en-US" sz="1150" dirty="0"/>
          </a:p>
        </p:txBody>
      </p:sp>
      <p:sp>
        <p:nvSpPr>
          <p:cNvPr id="101" name="Shape 31">
            <a:extLst>
              <a:ext uri="{FF2B5EF4-FFF2-40B4-BE49-F238E27FC236}">
                <a16:creationId xmlns:a16="http://schemas.microsoft.com/office/drawing/2014/main" id="{BB9422E5-973C-8E28-0C0E-0B19EAB700F5}"/>
              </a:ext>
            </a:extLst>
          </p:cNvPr>
          <p:cNvSpPr/>
          <p:nvPr/>
        </p:nvSpPr>
        <p:spPr>
          <a:xfrm>
            <a:off x="7703820" y="5669280"/>
            <a:ext cx="82296" cy="82296"/>
          </a:xfrm>
          <a:prstGeom prst="ellipse">
            <a:avLst/>
          </a:prstGeom>
          <a:solidFill>
            <a:srgbClr val="9C7C34"/>
          </a:solidFill>
          <a:ln/>
        </p:spPr>
      </p:sp>
      <p:sp>
        <p:nvSpPr>
          <p:cNvPr id="102" name="Text 32">
            <a:extLst>
              <a:ext uri="{FF2B5EF4-FFF2-40B4-BE49-F238E27FC236}">
                <a16:creationId xmlns:a16="http://schemas.microsoft.com/office/drawing/2014/main" id="{8E091666-5545-4C68-8705-5C59217DF5F3}"/>
              </a:ext>
            </a:extLst>
          </p:cNvPr>
          <p:cNvSpPr/>
          <p:nvPr/>
        </p:nvSpPr>
        <p:spPr>
          <a:xfrm>
            <a:off x="4402836" y="5559552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he-IL" sz="1150" dirty="0">
                <a:solidFill>
                  <a:srgbClr val="6B5426"/>
                </a:solidFill>
                <a:cs typeface="Arial" pitchFamily="34" charset="-120"/>
              </a:rPr>
              <a:t>קוד ה- </a:t>
            </a:r>
            <a:r>
              <a:rPr lang="en-US" sz="1150" dirty="0">
                <a:solidFill>
                  <a:srgbClr val="6B5426"/>
                </a:solidFill>
                <a:cs typeface="Arial" pitchFamily="34" charset="-120"/>
              </a:rPr>
              <a:t>OTP</a:t>
            </a:r>
            <a:r>
              <a:rPr lang="he-IL" sz="1150" dirty="0">
                <a:solidFill>
                  <a:srgbClr val="6B5426"/>
                </a:solidFill>
                <a:cs typeface="Arial" pitchFamily="34" charset="-120"/>
              </a:rPr>
              <a:t> קבוע ולא נשלח ב- </a:t>
            </a:r>
            <a:r>
              <a:rPr lang="en-US" sz="1150" dirty="0">
                <a:solidFill>
                  <a:srgbClr val="6B5426"/>
                </a:solidFill>
                <a:cs typeface="Arial" pitchFamily="34" charset="-120"/>
              </a:rPr>
              <a:t>SMS</a:t>
            </a:r>
            <a:r>
              <a:rPr lang="he-IL" sz="1150" dirty="0">
                <a:solidFill>
                  <a:srgbClr val="6B5426"/>
                </a:solidFill>
                <a:cs typeface="Arial" pitchFamily="34" charset="-120"/>
              </a:rPr>
              <a:t> אמיתי</a:t>
            </a:r>
            <a:endParaRPr lang="en-US" sz="1150" dirty="0"/>
          </a:p>
        </p:txBody>
      </p:sp>
      <p:sp>
        <p:nvSpPr>
          <p:cNvPr id="103" name="Shape 33">
            <a:extLst>
              <a:ext uri="{FF2B5EF4-FFF2-40B4-BE49-F238E27FC236}">
                <a16:creationId xmlns:a16="http://schemas.microsoft.com/office/drawing/2014/main" id="{1CFCC563-BE14-86A2-865F-57807CCF09E8}"/>
              </a:ext>
            </a:extLst>
          </p:cNvPr>
          <p:cNvSpPr/>
          <p:nvPr/>
        </p:nvSpPr>
        <p:spPr>
          <a:xfrm>
            <a:off x="4046220" y="5669280"/>
            <a:ext cx="82296" cy="82296"/>
          </a:xfrm>
          <a:prstGeom prst="ellipse">
            <a:avLst/>
          </a:prstGeom>
          <a:solidFill>
            <a:srgbClr val="9C7C34"/>
          </a:solidFill>
          <a:ln/>
        </p:spPr>
      </p:sp>
      <p:sp>
        <p:nvSpPr>
          <p:cNvPr id="104" name="Text 34">
            <a:extLst>
              <a:ext uri="{FF2B5EF4-FFF2-40B4-BE49-F238E27FC236}">
                <a16:creationId xmlns:a16="http://schemas.microsoft.com/office/drawing/2014/main" id="{C58A5401-EA55-90D6-6CA6-05366D71E360}"/>
              </a:ext>
            </a:extLst>
          </p:cNvPr>
          <p:cNvSpPr/>
          <p:nvPr/>
        </p:nvSpPr>
        <p:spPr>
          <a:xfrm>
            <a:off x="745236" y="5559552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400"/>
              </a:lnSpc>
              <a:buNone/>
            </a:pPr>
            <a:r>
              <a:rPr lang="he-IL" sz="1150" dirty="0">
                <a:solidFill>
                  <a:srgbClr val="6B5426"/>
                </a:solidFill>
                <a:ea typeface="Arial" pitchFamily="34" charset="-122"/>
                <a:cs typeface="Arial" pitchFamily="34" charset="-120"/>
              </a:rPr>
              <a:t>הסיסמאות נשמרות ללא הצפנה עקב דמו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7507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4932" y="338328"/>
            <a:ext cx="6412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Demo וצעדים הבאים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72112" y="945973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1600" b="1" dirty="0">
                <a:solidFill>
                  <a:srgbClr val="C5A25B"/>
                </a:solidFill>
                <a:ea typeface="Arial" pitchFamily="34" charset="-122"/>
                <a:cs typeface="Arial" pitchFamily="34" charset="-120"/>
              </a:rPr>
              <a:t>איפה הנתונים נשמרים היום ולאן המערכת יכולה להתפתח</a:t>
            </a:r>
          </a:p>
          <a:p>
            <a:pPr marL="0" indent="0" algn="r" rtl="1">
              <a:buNone/>
            </a:pP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91072" y="1572768"/>
            <a:ext cx="5349240" cy="3913632"/>
          </a:xfrm>
          <a:prstGeom prst="roundRect">
            <a:avLst>
              <a:gd name="adj" fmla="val 3271"/>
            </a:avLst>
          </a:prstGeom>
          <a:solidFill>
            <a:srgbClr val="252C36"/>
          </a:solidFill>
          <a:ln/>
        </p:spPr>
      </p:sp>
      <p:sp>
        <p:nvSpPr>
          <p:cNvPr id="5" name="Shape 3"/>
          <p:cNvSpPr/>
          <p:nvPr/>
        </p:nvSpPr>
        <p:spPr>
          <a:xfrm>
            <a:off x="10744200" y="1828800"/>
            <a:ext cx="603504" cy="603504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6" name="Image 0" descr="/home/claude/deck/icons/databas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936" y="20025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38544" y="184708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900" b="1" dirty="0">
                <a:solidFill>
                  <a:srgbClr val="F5F1EA"/>
                </a:solidFill>
                <a:latin typeface="Arial" pitchFamily="34" charset="0"/>
                <a:cs typeface="Arial" pitchFamily="34" charset="-120"/>
              </a:rPr>
              <a:t>כיום - </a:t>
            </a:r>
            <a:r>
              <a:rPr lang="en-US" sz="1900" b="1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601968" y="2487168"/>
            <a:ext cx="4727448" cy="566928"/>
          </a:xfrm>
          <a:prstGeom prst="roundRect">
            <a:avLst>
              <a:gd name="adj" fmla="val 11290"/>
            </a:avLst>
          </a:prstGeom>
          <a:solidFill>
            <a:srgbClr val="1A1F26"/>
          </a:solidFill>
          <a:ln/>
        </p:spPr>
      </p:sp>
      <p:sp>
        <p:nvSpPr>
          <p:cNvPr id="9" name="Text 6"/>
          <p:cNvSpPr/>
          <p:nvPr/>
        </p:nvSpPr>
        <p:spPr>
          <a:xfrm>
            <a:off x="6729984" y="252374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queueless-users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491472" y="2523744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לקוחות רשומים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01968" y="3163824"/>
            <a:ext cx="4727448" cy="566928"/>
          </a:xfrm>
          <a:prstGeom prst="roundRect">
            <a:avLst>
              <a:gd name="adj" fmla="val 11290"/>
            </a:avLst>
          </a:prstGeom>
          <a:solidFill>
            <a:srgbClr val="1A1F26"/>
          </a:solidFill>
          <a:ln/>
        </p:spPr>
      </p:sp>
      <p:sp>
        <p:nvSpPr>
          <p:cNvPr id="12" name="Text 9"/>
          <p:cNvSpPr/>
          <p:nvPr/>
        </p:nvSpPr>
        <p:spPr>
          <a:xfrm>
            <a:off x="6729984" y="32004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queueless_ux_appointments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491472" y="3200400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תורים וסטטוסים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01968" y="3840480"/>
            <a:ext cx="4727448" cy="566928"/>
          </a:xfrm>
          <a:prstGeom prst="roundRect">
            <a:avLst>
              <a:gd name="adj" fmla="val 11290"/>
            </a:avLst>
          </a:prstGeom>
          <a:solidFill>
            <a:srgbClr val="1A1F26"/>
          </a:solidFill>
          <a:ln/>
        </p:spPr>
      </p:sp>
      <p:sp>
        <p:nvSpPr>
          <p:cNvPr id="15" name="Text 12"/>
          <p:cNvSpPr/>
          <p:nvPr/>
        </p:nvSpPr>
        <p:spPr>
          <a:xfrm>
            <a:off x="6729984" y="387705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queueless-blocked-dates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491472" y="387705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חסימות ימים ושעות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601968" y="4517136"/>
            <a:ext cx="4727448" cy="566928"/>
          </a:xfrm>
          <a:prstGeom prst="roundRect">
            <a:avLst>
              <a:gd name="adj" fmla="val 11290"/>
            </a:avLst>
          </a:prstGeom>
          <a:solidFill>
            <a:srgbClr val="1A1F26"/>
          </a:solidFill>
          <a:ln/>
        </p:spPr>
      </p:sp>
      <p:sp>
        <p:nvSpPr>
          <p:cNvPr id="18" name="Text 15"/>
          <p:cNvSpPr/>
          <p:nvPr/>
        </p:nvSpPr>
        <p:spPr>
          <a:xfrm>
            <a:off x="6729984" y="455371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queueless_ux_session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491472" y="455371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E8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המשתמש המחובר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1572768"/>
            <a:ext cx="5349240" cy="3913632"/>
          </a:xfrm>
          <a:prstGeom prst="roundRect">
            <a:avLst>
              <a:gd name="adj" fmla="val 3271"/>
            </a:avLst>
          </a:prstGeom>
          <a:solidFill>
            <a:srgbClr val="F5F1EA"/>
          </a:solidFill>
          <a:ln/>
        </p:spPr>
      </p:sp>
      <p:sp>
        <p:nvSpPr>
          <p:cNvPr id="21" name="Shape 18"/>
          <p:cNvSpPr/>
          <p:nvPr/>
        </p:nvSpPr>
        <p:spPr>
          <a:xfrm>
            <a:off x="5001768" y="1828800"/>
            <a:ext cx="603504" cy="603504"/>
          </a:xfrm>
          <a:prstGeom prst="ellipse">
            <a:avLst/>
          </a:prstGeom>
          <a:solidFill>
            <a:srgbClr val="1A1F26"/>
          </a:solidFill>
          <a:ln/>
        </p:spPr>
      </p:sp>
      <p:pic>
        <p:nvPicPr>
          <p:cNvPr id="22" name="Image 1" descr="/home/claude/deck/icons/rocke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993392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96112" y="184708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הצעד הבא</a:t>
            </a:r>
            <a:r>
              <a:rPr lang="he-IL" sz="1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1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5468112" y="2582799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25" name="Text 21"/>
          <p:cNvSpPr/>
          <p:nvPr/>
        </p:nvSpPr>
        <p:spPr>
          <a:xfrm>
            <a:off x="896112" y="2505456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he-IL" sz="1450" dirty="0">
                <a:solidFill>
                  <a:srgbClr val="1F2933"/>
                </a:solidFill>
                <a:latin typeface="Arial" pitchFamily="34" charset="0"/>
                <a:cs typeface="Arial" pitchFamily="34" charset="-120"/>
              </a:rPr>
              <a:t>מסד נתונים אמיתי </a:t>
            </a:r>
            <a:r>
              <a:rPr lang="he-IL" sz="14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4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r>
              <a:rPr lang="he-IL" sz="14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50" dirty="0"/>
          </a:p>
        </p:txBody>
      </p:sp>
      <p:sp>
        <p:nvSpPr>
          <p:cNvPr id="26" name="Shape 22"/>
          <p:cNvSpPr/>
          <p:nvPr/>
        </p:nvSpPr>
        <p:spPr>
          <a:xfrm>
            <a:off x="5468112" y="3039999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27" name="Text 23"/>
          <p:cNvSpPr/>
          <p:nvPr/>
        </p:nvSpPr>
        <p:spPr>
          <a:xfrm>
            <a:off x="896112" y="2962656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 משתמשים אמיתי והרשאות</a:t>
            </a:r>
            <a:endParaRPr lang="en-US" sz="1450" dirty="0"/>
          </a:p>
        </p:txBody>
      </p:sp>
      <p:sp>
        <p:nvSpPr>
          <p:cNvPr id="28" name="Shape 24"/>
          <p:cNvSpPr/>
          <p:nvPr/>
        </p:nvSpPr>
        <p:spPr>
          <a:xfrm>
            <a:off x="5468112" y="3497199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29" name="Text 25"/>
          <p:cNvSpPr/>
          <p:nvPr/>
        </p:nvSpPr>
        <p:spPr>
          <a:xfrm>
            <a:off x="896112" y="3419856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he-IL" sz="1450" dirty="0">
                <a:solidFill>
                  <a:srgbClr val="1F2933"/>
                </a:solidFill>
                <a:latin typeface="Arial" pitchFamily="34" charset="0"/>
                <a:cs typeface="Arial" pitchFamily="34" charset="-120"/>
              </a:rPr>
              <a:t>התראות – </a:t>
            </a:r>
            <a:r>
              <a:rPr lang="en-US" sz="1450" dirty="0">
                <a:solidFill>
                  <a:srgbClr val="1F2933"/>
                </a:solidFill>
                <a:latin typeface="Arial" pitchFamily="34" charset="0"/>
                <a:cs typeface="Arial" pitchFamily="34" charset="-120"/>
              </a:rPr>
              <a:t>WhatsApp/SMS</a:t>
            </a:r>
            <a:endParaRPr lang="en-US" sz="1450" dirty="0"/>
          </a:p>
        </p:txBody>
      </p:sp>
      <p:sp>
        <p:nvSpPr>
          <p:cNvPr id="30" name="Shape 26"/>
          <p:cNvSpPr/>
          <p:nvPr/>
        </p:nvSpPr>
        <p:spPr>
          <a:xfrm>
            <a:off x="5468112" y="3954399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31" name="Text 27"/>
          <p:cNvSpPr/>
          <p:nvPr/>
        </p:nvSpPr>
        <p:spPr>
          <a:xfrm>
            <a:off x="896112" y="3877056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תשלומים אונליין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5468112" y="4411599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33" name="Text 29"/>
          <p:cNvSpPr/>
          <p:nvPr/>
        </p:nvSpPr>
        <p:spPr>
          <a:xfrm>
            <a:off x="896112" y="4334256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דוחות והכנסות לבעל העסק</a:t>
            </a:r>
            <a:endParaRPr lang="en-US" sz="1450" dirty="0"/>
          </a:p>
        </p:txBody>
      </p:sp>
      <p:sp>
        <p:nvSpPr>
          <p:cNvPr id="34" name="Shape 30"/>
          <p:cNvSpPr/>
          <p:nvPr/>
        </p:nvSpPr>
        <p:spPr>
          <a:xfrm>
            <a:off x="5468112" y="4868799"/>
            <a:ext cx="82296" cy="82296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35" name="Text 31"/>
          <p:cNvSpPr/>
          <p:nvPr/>
        </p:nvSpPr>
        <p:spPr>
          <a:xfrm>
            <a:off x="896112" y="4791456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856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בכמה עסקים </a:t>
            </a:r>
            <a:r>
              <a:rPr lang="he-IL" sz="14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וסוגי עסקים</a:t>
            </a:r>
            <a:endParaRPr lang="en-US" sz="1450" dirty="0"/>
          </a:p>
        </p:txBody>
      </p:sp>
      <p:sp>
        <p:nvSpPr>
          <p:cNvPr id="36" name="Shape 32"/>
          <p:cNvSpPr/>
          <p:nvPr/>
        </p:nvSpPr>
        <p:spPr>
          <a:xfrm>
            <a:off x="548640" y="5742432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C9A96A">
              <a:alpha val="12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868680" y="5779008"/>
            <a:ext cx="10451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sz="13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 </a:t>
            </a:r>
            <a:r>
              <a:rPr lang="en-US" sz="13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r>
              <a:rPr lang="he-IL" sz="13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בחרנו במודע לשמור נתונים בדפדפן</a:t>
            </a:r>
            <a:r>
              <a:rPr lang="he-IL" sz="13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13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מערכת אמיתית הנתונים יעברו </a:t>
            </a:r>
            <a:r>
              <a:rPr lang="he-IL" sz="13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ל- </a:t>
            </a:r>
            <a:r>
              <a:rPr lang="en-US" sz="13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r>
              <a:rPr lang="he-IL" sz="13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עם </a:t>
            </a:r>
            <a:r>
              <a:rPr lang="en-US" sz="13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r>
              <a:rPr lang="he-IL" sz="1300" dirty="0">
                <a:solidFill>
                  <a:srgbClr val="C9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הרשאות והצפנה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730</Words>
  <Application>Microsoft Office PowerPoint</Application>
  <PresentationFormat>Widescreen</PresentationFormat>
  <Paragraphs>137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QueueLess - מספרת רמת גן</dc:title>
  <dc:subject>PptxGenJS Presentation</dc:subject>
  <dc:creator>QueueLess Team</dc:creator>
  <cp:lastModifiedBy>Yitzhak Yosef</cp:lastModifiedBy>
  <cp:revision>7</cp:revision>
  <dcterms:created xsi:type="dcterms:W3CDTF">2026-07-23T13:30:38Z</dcterms:created>
  <dcterms:modified xsi:type="dcterms:W3CDTF">2026-07-23T18:53:33Z</dcterms:modified>
</cp:coreProperties>
</file>